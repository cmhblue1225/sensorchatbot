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  <p:sldId id="280" r:id="rId27"/>
    <p:sldId id="281" r:id="rId28"/>
  </p:sldIdLst>
  <p:sldSz cx="24384000" cy="13716000"/>
  <p:notesSz cx="6858000" cy="9144000"/>
  <p:embeddedFontLst>
    <p:embeddedFont>
      <p:font typeface="Kim jung chul Gothic Bold" panose="020B0803000000000000" pitchFamily="34" charset="-127"/>
      <p:bold r:id="rId29"/>
    </p:embeddedFont>
    <p:embeddedFont>
      <p:font typeface="Kim jung chul Gothic Regular" panose="020B0503000000000000" pitchFamily="34" charset="-127"/>
      <p:regular r:id="rId30"/>
    </p:embeddedFont>
    <p:embeddedFont>
      <p:font typeface="Pretendard Regular" panose="02000503000000020004" pitchFamily="2" charset="-127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377" autoAdjust="0"/>
    <p:restoredTop sz="94652" autoAdjust="0"/>
  </p:normalViewPr>
  <p:slideViewPr>
    <p:cSldViewPr>
      <p:cViewPr varScale="1">
        <p:scale>
          <a:sx n="34" d="100"/>
          <a:sy n="34" d="100"/>
        </p:scale>
        <p:origin x="216" y="16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9.png"/><Relationship Id="rId7" Type="http://schemas.openxmlformats.org/officeDocument/2006/relationships/image" Target="../media/image5.png"/><Relationship Id="rId12" Type="http://schemas.openxmlformats.org/officeDocument/2006/relationships/image" Target="../media/image3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4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0.png"/><Relationship Id="rId7" Type="http://schemas.openxmlformats.org/officeDocument/2006/relationships/image" Target="../media/image4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54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9702800" y="-749300"/>
            <a:ext cx="21361400" cy="2136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127000" y="10972800"/>
            <a:ext cx="3352800" cy="76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524000" y="4699000"/>
            <a:ext cx="14998700" cy="2844800"/>
          </a:xfrm>
          <a:prstGeom prst="rect">
            <a:avLst/>
          </a:prstGeom>
        </p:spPr>
        <p:txBody>
          <a:bodyPr lIns="0" tIns="20320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6000" b="0" i="0" u="none" strike="noStrike">
                <a:solidFill>
                  <a:srgbClr val="E37253"/>
                </a:solidFill>
                <a:ea typeface="Kim jung chul Gothic Bold"/>
              </a:rPr>
              <a:t>센서</a:t>
            </a:r>
            <a:r>
              <a:rPr lang="en-US" sz="16000" b="0" i="0" u="none" strike="noStrike">
                <a:solidFill>
                  <a:srgbClr val="E37253"/>
                </a:solidFill>
                <a:latin typeface="Kim jung chul Gothic Bold"/>
              </a:rPr>
              <a:t> </a:t>
            </a:r>
            <a:r>
              <a:rPr lang="ko-KR" sz="16000" b="0" i="0" u="none" strike="noStrike">
                <a:solidFill>
                  <a:srgbClr val="E37253"/>
                </a:solidFill>
                <a:ea typeface="Kim jung chul Gothic Bold"/>
              </a:rPr>
              <a:t>게임</a:t>
            </a:r>
            <a:r>
              <a:rPr lang="en-US" sz="16000" b="0" i="0" u="none" strike="noStrike">
                <a:solidFill>
                  <a:srgbClr val="E37253"/>
                </a:solidFill>
                <a:latin typeface="Kim jung chul Gothic Bold"/>
              </a:rPr>
              <a:t> </a:t>
            </a:r>
            <a:r>
              <a:rPr lang="ko-KR" sz="16000" b="0" i="0" u="none" strike="noStrike">
                <a:solidFill>
                  <a:srgbClr val="E37253"/>
                </a:solidFill>
                <a:ea typeface="Kim jung chul Gothic Bold"/>
              </a:rPr>
              <a:t>허브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24000" y="2895600"/>
            <a:ext cx="17843500" cy="2082800"/>
          </a:xfrm>
          <a:prstGeom prst="rect">
            <a:avLst/>
          </a:prstGeom>
        </p:spPr>
        <p:txBody>
          <a:bodyPr lIns="0" tIns="1490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1733" b="0" i="0" u="none" strike="noStrike">
                <a:solidFill>
                  <a:srgbClr val="585755"/>
                </a:solidFill>
                <a:latin typeface="Kim jung chul Gothic Bold"/>
              </a:rPr>
              <a:t>AI</a:t>
            </a:r>
            <a:r>
              <a:rPr lang="ko-KR" sz="11733" b="0" i="0" u="none" strike="noStrike">
                <a:solidFill>
                  <a:srgbClr val="585755"/>
                </a:solidFill>
                <a:ea typeface="Kim jung chul Gothic Bold"/>
              </a:rPr>
              <a:t>와</a:t>
            </a:r>
            <a:r>
              <a:rPr lang="en-US" sz="11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11733" b="0" i="0" u="none" strike="noStrike">
                <a:solidFill>
                  <a:srgbClr val="585755"/>
                </a:solidFill>
                <a:ea typeface="Kim jung chul Gothic Bold"/>
              </a:rPr>
              <a:t>만드는</a:t>
            </a:r>
            <a:r>
              <a:rPr lang="en-US" sz="11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11733" b="0" i="0" u="none" strike="noStrike">
                <a:solidFill>
                  <a:srgbClr val="585755"/>
                </a:solidFill>
                <a:ea typeface="Kim jung chul Gothic Bold"/>
              </a:rPr>
              <a:t>나만의</a:t>
            </a:r>
            <a:r>
              <a:rPr lang="en-US" sz="11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11733" b="0" i="0" u="none" strike="noStrike">
                <a:solidFill>
                  <a:srgbClr val="585755"/>
                </a:solidFill>
                <a:ea typeface="Kim jung chul Gothic Bold"/>
              </a:rPr>
              <a:t>게임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6600" y="9334500"/>
            <a:ext cx="3568700" cy="1168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6579" b="0" i="0" u="none" strike="noStrike">
                <a:solidFill>
                  <a:srgbClr val="000000"/>
                </a:solidFill>
                <a:ea typeface="Pretendard Regular"/>
              </a:rPr>
              <a:t>팀명</a:t>
            </a:r>
            <a:r>
              <a:rPr lang="en-US" sz="6579" b="0" i="0" u="none" strike="noStrike">
                <a:solidFill>
                  <a:srgbClr val="000000"/>
                </a:solidFill>
                <a:latin typeface="Pretendard Regular"/>
              </a:rPr>
              <a:t>: </a:t>
            </a:r>
            <a:r>
              <a:rPr lang="ko-KR" sz="6579" b="0" i="0" u="none" strike="noStrike">
                <a:solidFill>
                  <a:srgbClr val="000000"/>
                </a:solidFill>
                <a:ea typeface="Pretendard Regular"/>
              </a:rPr>
              <a:t>큐보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06600" y="11252200"/>
            <a:ext cx="4622800" cy="749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20190635 </a:t>
            </a:r>
            <a:r>
              <a:rPr lang="ko-KR" altLang="en-US" sz="4207" b="0" i="0" u="none" strike="noStrike" dirty="0">
                <a:solidFill>
                  <a:srgbClr val="000000"/>
                </a:solidFill>
                <a:latin typeface="Pretendard Regular"/>
              </a:rPr>
              <a:t>이재원</a:t>
            </a:r>
            <a:endParaRPr lang="ko-KR" sz="4207" b="0" i="0" u="none" strike="noStrike" dirty="0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06600" y="11918950"/>
            <a:ext cx="4432300" cy="749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20201576  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조민혁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06600" y="10502900"/>
            <a:ext cx="4572000" cy="749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4207" b="0" i="0" u="none" strike="noStrike" dirty="0">
                <a:solidFill>
                  <a:srgbClr val="000000"/>
                </a:solidFill>
                <a:latin typeface="Pretendard Regular"/>
              </a:rPr>
              <a:t>20201513  </a:t>
            </a:r>
            <a:r>
              <a:rPr lang="ko-KR" sz="4207" b="0" i="0" u="none" strike="noStrike" dirty="0">
                <a:solidFill>
                  <a:srgbClr val="000000"/>
                </a:solidFill>
                <a:ea typeface="Pretendard Regular"/>
              </a:rPr>
              <a:t>안지민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2200" y="-431800"/>
            <a:ext cx="7531100" cy="1483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508000" y="1765300"/>
            <a:ext cx="1485900" cy="101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8440400" y="11087100"/>
            <a:ext cx="45974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82599"/>
              </a:lnSpc>
            </a:pP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기대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효과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결론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027400" y="10236200"/>
            <a:ext cx="2044700" cy="1892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82599"/>
              </a:lnSpc>
            </a:pPr>
            <a:r>
              <a:rPr lang="en" sz="10666" b="0" i="0" u="none" strike="noStrike">
                <a:solidFill>
                  <a:srgbClr val="FF8C6C"/>
                </a:solidFill>
                <a:latin typeface="Kim jung chul Gothic Regular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440400" y="9156700"/>
            <a:ext cx="45974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82599"/>
              </a:lnSpc>
            </a:pP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지원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운영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계획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027400" y="8305800"/>
            <a:ext cx="2044700" cy="1892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82599"/>
              </a:lnSpc>
            </a:pPr>
            <a:r>
              <a:rPr lang="en" sz="10666" b="0" i="0" u="none" strike="noStrike">
                <a:solidFill>
                  <a:srgbClr val="FF8C6C"/>
                </a:solidFill>
                <a:latin typeface="Kim jung chul Gothic Regular"/>
              </a:rPr>
              <a:t>07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440400" y="7213600"/>
            <a:ext cx="45974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82599"/>
              </a:lnSpc>
            </a:pP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사업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관리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계획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027400" y="6375400"/>
            <a:ext cx="2044700" cy="1892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82599"/>
              </a:lnSpc>
            </a:pPr>
            <a:r>
              <a:rPr lang="en" sz="10666" b="0" i="0" u="none" strike="noStrike">
                <a:solidFill>
                  <a:srgbClr val="FF8C6C"/>
                </a:solidFill>
                <a:latin typeface="Kim jung chul Gothic Regular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440400" y="5283200"/>
            <a:ext cx="54356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82599"/>
              </a:lnSpc>
            </a:pP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시스템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/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서비스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개발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계획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27400" y="4432300"/>
            <a:ext cx="2044700" cy="1892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82599"/>
              </a:lnSpc>
            </a:pPr>
            <a:r>
              <a:rPr lang="en" sz="10666" b="0" i="0" u="none" strike="noStrike">
                <a:solidFill>
                  <a:srgbClr val="FF8C6C"/>
                </a:solidFill>
                <a:latin typeface="Kim jung chul Gothic Regular"/>
              </a:rPr>
              <a:t>05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10900" y="11099800"/>
            <a:ext cx="49657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82599"/>
              </a:lnSpc>
            </a:pP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제안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목표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수행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방향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97900" y="10248900"/>
            <a:ext cx="2044700" cy="1892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82599"/>
              </a:lnSpc>
            </a:pPr>
            <a:r>
              <a:rPr lang="en" sz="10666" b="0" i="0" u="none" strike="noStrike">
                <a:solidFill>
                  <a:srgbClr val="FF8C6C"/>
                </a:solidFill>
                <a:latin typeface="Kim jung chul Gothic Regular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10900" y="9169400"/>
            <a:ext cx="45974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82599"/>
              </a:lnSpc>
            </a:pP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시장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/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기술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동향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분석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97900" y="8318500"/>
            <a:ext cx="2044700" cy="1892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82599"/>
              </a:lnSpc>
            </a:pPr>
            <a:r>
              <a:rPr lang="en" sz="10666" b="0" i="0" u="none" strike="noStrike">
                <a:solidFill>
                  <a:srgbClr val="FF8C6C"/>
                </a:solidFill>
                <a:latin typeface="Kim jung chul Gothic Regular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10900" y="7226300"/>
            <a:ext cx="45974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82599"/>
              </a:lnSpc>
            </a:pP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프로젝트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일반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현황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97900" y="6388100"/>
            <a:ext cx="2044700" cy="1892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82599"/>
              </a:lnSpc>
            </a:pPr>
            <a:r>
              <a:rPr lang="en" sz="10666" b="0" i="0" u="none" strike="noStrike">
                <a:solidFill>
                  <a:srgbClr val="FF8C6C"/>
                </a:solidFill>
                <a:latin typeface="Kim jung chul Gothic Regular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10900" y="5295900"/>
            <a:ext cx="45974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82599"/>
              </a:lnSpc>
            </a:pP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제안</a:t>
            </a:r>
            <a:r>
              <a:rPr lang="en-US" sz="40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00" b="0" i="0" u="none" strike="noStrike">
                <a:solidFill>
                  <a:srgbClr val="222222"/>
                </a:solidFill>
                <a:ea typeface="Kim jung chul Gothic Bold"/>
              </a:rPr>
              <a:t>개요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97900" y="4457700"/>
            <a:ext cx="2044700" cy="1892300"/>
          </a:xfrm>
          <a:prstGeom prst="rect">
            <a:avLst/>
          </a:prstGeom>
        </p:spPr>
        <p:txBody>
          <a:bodyPr rtlCol="0" anchor="t"/>
          <a:lstStyle/>
          <a:p>
            <a:pPr lvl="0" algn="r">
              <a:lnSpc>
                <a:spcPct val="182599"/>
              </a:lnSpc>
            </a:pPr>
            <a:r>
              <a:rPr lang="en" sz="10666" b="0" i="0" u="none" strike="noStrike">
                <a:solidFill>
                  <a:srgbClr val="FF8C6C"/>
                </a:solidFill>
                <a:latin typeface="Kim jung chul Gothic Regular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01800" y="2184400"/>
            <a:ext cx="2743200" cy="431800"/>
          </a:xfrm>
          <a:prstGeom prst="rect">
            <a:avLst/>
          </a:prstGeom>
        </p:spPr>
        <p:txBody>
          <a:bodyPr lIns="0" tIns="30480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2400" b="0" i="0" u="none" strike="noStrike">
                <a:solidFill>
                  <a:srgbClr val="8C887B"/>
                </a:solidFill>
                <a:latin typeface="Kim jung chul Gothic Regular"/>
              </a:rPr>
              <a:t>Contents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01800" y="787400"/>
            <a:ext cx="2959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l">
              <a:lnSpc>
                <a:spcPct val="99600"/>
              </a:lnSpc>
            </a:pPr>
            <a:r>
              <a:rPr lang="en" sz="8000" b="0" i="0" u="none" strike="noStrike">
                <a:solidFill>
                  <a:srgbClr val="585755"/>
                </a:solidFill>
                <a:ea typeface="Kim jung chul Gothic 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44600" y="4152900"/>
            <a:ext cx="12700000" cy="13970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개발의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높은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기술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장벽과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아이디어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사장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문제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스마트폰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(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자이로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가속도계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)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를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활용한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플레이의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잠재력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57300" y="2959100"/>
            <a:ext cx="4965700" cy="927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5248" b="0" i="0" u="none" strike="noStrike">
                <a:solidFill>
                  <a:srgbClr val="222222"/>
                </a:solidFill>
                <a:ea typeface="Kim jung chul Gothic Bold"/>
              </a:rPr>
              <a:t>배경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87500" y="812800"/>
            <a:ext cx="7454900" cy="15113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8473" b="0" i="0" u="none" strike="noStrike">
                <a:solidFill>
                  <a:srgbClr val="585755"/>
                </a:solidFill>
                <a:ea typeface="Kim jung chul Gothic Bold"/>
              </a:rPr>
              <a:t>제안</a:t>
            </a:r>
            <a:r>
              <a:rPr lang="en-US" sz="847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8473" b="0" i="0" u="none" strike="noStrike">
                <a:solidFill>
                  <a:srgbClr val="585755"/>
                </a:solidFill>
                <a:ea typeface="Kim jung chul Gothic Bold"/>
              </a:rPr>
              <a:t>개요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4600" y="7696200"/>
            <a:ext cx="19062700" cy="6985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누구나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상상한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아이디어를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활용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게임으로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즉시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구현하고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플레이하는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통합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플랫폼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구축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7300" y="6502400"/>
            <a:ext cx="4965700" cy="927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5248" b="0" i="0" u="none" strike="noStrike">
                <a:solidFill>
                  <a:srgbClr val="222222"/>
                </a:solidFill>
                <a:ea typeface="Kim jung chul Gothic Bold"/>
              </a:rPr>
              <a:t>목적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7300" y="10642600"/>
            <a:ext cx="7239000" cy="13970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대화형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AI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를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통한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생성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플랫폼리스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웹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기반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접근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0000" y="9436100"/>
            <a:ext cx="4965700" cy="927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5248" b="0" i="0" u="none" strike="noStrike">
                <a:solidFill>
                  <a:srgbClr val="222222"/>
                </a:solidFill>
                <a:ea typeface="Kim jung chul Gothic Bold"/>
              </a:rPr>
              <a:t>특징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-469900"/>
            <a:ext cx="12827000" cy="14922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076700" y="5130800"/>
            <a:ext cx="1803400" cy="1104900"/>
          </a:xfrm>
          <a:prstGeom prst="rect">
            <a:avLst/>
          </a:prstGeom>
        </p:spPr>
        <p:txBody>
          <a:bodyPr lIns="0" tIns="7932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6245" b="0" i="0" u="none" strike="noStrike">
                <a:solidFill>
                  <a:srgbClr val="FFFFFF"/>
                </a:solidFill>
                <a:latin typeface="Kim jung chul Gothic Bold"/>
              </a:rPr>
              <a:t>15</a:t>
            </a:r>
            <a:r>
              <a:rPr lang="en" sz="3497" b="0" i="0" u="none" strike="noStrike">
                <a:solidFill>
                  <a:srgbClr val="FFFFFF"/>
                </a:solidFill>
                <a:latin typeface="Kim jung chul Gothic Bold"/>
              </a:rPr>
              <a:t>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8300" y="1028700"/>
            <a:ext cx="76962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6400" b="0" i="0" u="none" strike="noStrike" dirty="0">
                <a:solidFill>
                  <a:srgbClr val="585755"/>
                </a:solidFill>
                <a:ea typeface="Kim jung chul Gothic Bold"/>
              </a:rPr>
              <a:t>팀 소개 및 기술 스택</a:t>
            </a:r>
            <a:endParaRPr lang="ko-KR" sz="6400" b="0" i="0" u="none" strike="noStrike" dirty="0">
              <a:solidFill>
                <a:srgbClr val="585755"/>
              </a:solidFill>
              <a:ea typeface="Kim jung chul Gothic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44600" y="3632200"/>
            <a:ext cx="4965700" cy="927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팀원</a:t>
            </a:r>
            <a:r>
              <a:rPr lang="en-US" sz="5248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5248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역할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25500" y="3632200"/>
            <a:ext cx="4965700" cy="927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보유</a:t>
            </a:r>
            <a:r>
              <a:rPr lang="en-US" sz="5248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기술</a:t>
            </a:r>
            <a:r>
              <a:rPr lang="en-US" sz="5248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역량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4600" y="5689600"/>
            <a:ext cx="10629900" cy="3505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이재원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(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팀장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) : PM,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시스템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아키텍트</a:t>
            </a:r>
          </a:p>
          <a:p>
            <a:pPr lvl="0" algn="l">
              <a:lnSpc>
                <a:spcPct val="116199"/>
              </a:lnSpc>
            </a:pPr>
            <a:endParaRPr lang="ko-KR" sz="3936" b="0" i="0" u="none" strike="noStrike">
              <a:solidFill>
                <a:srgbClr val="222222"/>
              </a:solidFill>
              <a:ea typeface="Kim jung chul Gothic Regular"/>
            </a:endParaRPr>
          </a:p>
          <a:p>
            <a:pPr lvl="0" algn="l">
              <a:lnSpc>
                <a:spcPct val="116199"/>
              </a:lnSpc>
            </a:pP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조민혁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(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팀원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) :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백엔드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, AI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개발</a:t>
            </a:r>
          </a:p>
          <a:p>
            <a:pPr lvl="0" algn="l">
              <a:lnSpc>
                <a:spcPct val="116199"/>
              </a:lnSpc>
            </a:pPr>
            <a:endParaRPr lang="ko-KR" sz="3936" b="0" i="0" u="none" strike="noStrike">
              <a:solidFill>
                <a:srgbClr val="222222"/>
              </a:solidFill>
              <a:ea typeface="Kim jung chul Gothic Regular"/>
            </a:endParaRPr>
          </a:p>
          <a:p>
            <a:pPr lvl="0" algn="l">
              <a:lnSpc>
                <a:spcPct val="116199"/>
              </a:lnSpc>
            </a:pP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안지민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(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팀원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) :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프론트엔드</a:t>
            </a:r>
            <a:r>
              <a:rPr lang="en-US" sz="3936" b="0" i="0" u="none" strike="noStrike">
                <a:solidFill>
                  <a:srgbClr val="222222"/>
                </a:solidFill>
                <a:latin typeface="Kim jung chul Gothic Regular"/>
              </a:rPr>
              <a:t>, UI/UX </a:t>
            </a:r>
            <a:r>
              <a:rPr lang="ko-KR" sz="3936" b="0" i="0" u="none" strike="noStrike">
                <a:solidFill>
                  <a:srgbClr val="222222"/>
                </a:solidFill>
                <a:ea typeface="Kim jung chul Gothic Regular"/>
              </a:rPr>
              <a:t>설계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49200" y="5689600"/>
            <a:ext cx="11658600" cy="35052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936" b="0" i="0" u="none" strike="noStrike" dirty="0">
                <a:solidFill>
                  <a:srgbClr val="222222"/>
                </a:solidFill>
                <a:latin typeface="Kim jung chul Gothic Regular"/>
              </a:rPr>
              <a:t>Full-Stack </a:t>
            </a:r>
            <a:r>
              <a:rPr lang="ko-KR" sz="3936" b="0" i="0" u="none" strike="noStrike" dirty="0">
                <a:solidFill>
                  <a:srgbClr val="222222"/>
                </a:solidFill>
                <a:ea typeface="Kim jung chul Gothic Regular"/>
              </a:rPr>
              <a:t>웹</a:t>
            </a:r>
            <a:r>
              <a:rPr lang="en-US" sz="3936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3936" b="0" i="0" u="none" strike="noStrike" dirty="0">
                <a:solidFill>
                  <a:srgbClr val="222222"/>
                </a:solidFill>
                <a:ea typeface="Kim jung chul Gothic Regular"/>
              </a:rPr>
              <a:t>개발</a:t>
            </a:r>
            <a:r>
              <a:rPr lang="en-US" sz="3936" b="0" i="0" u="none" strike="noStrike" dirty="0">
                <a:solidFill>
                  <a:srgbClr val="222222"/>
                </a:solidFill>
                <a:latin typeface="Kim jung chul Gothic Regular"/>
              </a:rPr>
              <a:t> (Node.js, JS, HTML/CSS)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endParaRPr lang="en-US" sz="3936" b="0" i="0" u="none" strike="noStrike" dirty="0">
              <a:solidFill>
                <a:srgbClr val="222222"/>
              </a:solidFill>
              <a:latin typeface="Kim jung chul Gothic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936" b="0" i="0" u="none" strike="noStrike" dirty="0">
                <a:solidFill>
                  <a:srgbClr val="222222"/>
                </a:solidFill>
                <a:ea typeface="Kim jung chul Gothic Regular"/>
              </a:rPr>
              <a:t>생성형</a:t>
            </a:r>
            <a:r>
              <a:rPr lang="en-US" sz="3936" b="0" i="0" u="none" strike="noStrike" dirty="0">
                <a:solidFill>
                  <a:srgbClr val="222222"/>
                </a:solidFill>
                <a:latin typeface="Kim jung chul Gothic Regular"/>
              </a:rPr>
              <a:t> AI (</a:t>
            </a:r>
            <a:r>
              <a:rPr lang="en-US" sz="3936" b="0" i="0" u="none" strike="noStrike" dirty="0" err="1">
                <a:solidFill>
                  <a:srgbClr val="222222"/>
                </a:solidFill>
                <a:latin typeface="Kim jung chul Gothic Regular"/>
              </a:rPr>
              <a:t>LangChain,js</a:t>
            </a:r>
            <a:r>
              <a:rPr lang="en-US" sz="3936" b="0" i="0" u="none" strike="noStrike" dirty="0">
                <a:solidFill>
                  <a:srgbClr val="222222"/>
                </a:solidFill>
                <a:latin typeface="Kim jung chul Gothic Regular"/>
              </a:rPr>
              <a:t>, RAG) </a:t>
            </a:r>
            <a:r>
              <a:rPr lang="ko-KR" sz="3936" b="0" i="0" u="none" strike="noStrike" dirty="0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3936" b="0" i="0" u="none" strike="noStrike" dirty="0">
                <a:solidFill>
                  <a:srgbClr val="222222"/>
                </a:solidFill>
                <a:latin typeface="Kim jung chul Gothic Regular"/>
              </a:rPr>
              <a:t> Python </a:t>
            </a:r>
            <a:r>
              <a:rPr lang="ko-KR" sz="3936" b="0" i="0" u="none" strike="noStrike" dirty="0" err="1">
                <a:solidFill>
                  <a:srgbClr val="222222"/>
                </a:solidFill>
                <a:ea typeface="Kim jung chul Gothic Regular"/>
              </a:rPr>
              <a:t>머신러닝</a:t>
            </a:r>
            <a:endParaRPr lang="ko-KR" sz="3936" b="0" i="0" u="none" strike="noStrike" dirty="0">
              <a:solidFill>
                <a:srgbClr val="222222"/>
              </a:solidFill>
              <a:ea typeface="Kim jung chul Gothic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endParaRPr lang="ko-KR" sz="3936" b="0" i="0" u="none" strike="noStrike" dirty="0">
              <a:solidFill>
                <a:srgbClr val="222222"/>
              </a:solidFill>
              <a:ea typeface="Kim jung chul Gothic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936" dirty="0">
                <a:solidFill>
                  <a:srgbClr val="222222"/>
                </a:solidFill>
                <a:latin typeface="Kim jung chul Gothic Regular"/>
              </a:rPr>
              <a:t>HTML/CSS/JAVASCRIPT, React, </a:t>
            </a:r>
            <a:r>
              <a:rPr lang="en-US" sz="3936" dirty="0" err="1">
                <a:solidFill>
                  <a:srgbClr val="222222"/>
                </a:solidFill>
                <a:latin typeface="Kim jung chul Gothic Regular"/>
              </a:rPr>
              <a:t>Three.js</a:t>
            </a:r>
            <a:endParaRPr lang="en-US" sz="3936" b="0" i="0" u="none" strike="noStrike" dirty="0">
              <a:solidFill>
                <a:srgbClr val="222222"/>
              </a:solidFill>
              <a:latin typeface="Kim jung chul Gothic Regula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8900" y="3575050"/>
            <a:ext cx="10183166" cy="791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3575050"/>
            <a:ext cx="10378526" cy="7912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3575050"/>
            <a:ext cx="10378526" cy="791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" y="3575050"/>
            <a:ext cx="6153856" cy="791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01000" y="7061200"/>
            <a:ext cx="406400" cy="76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19300" y="7061200"/>
            <a:ext cx="4064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900" y="7061200"/>
            <a:ext cx="406400" cy="76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7061200"/>
            <a:ext cx="406400" cy="76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0154900" y="5524500"/>
            <a:ext cx="1498600" cy="1092200"/>
          </a:xfrm>
          <a:prstGeom prst="rect">
            <a:avLst/>
          </a:prstGeom>
        </p:spPr>
        <p:txBody>
          <a:bodyPr lIns="0" tIns="778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6133" b="0" i="0" u="none" strike="noStrike">
                <a:solidFill>
                  <a:srgbClr val="585755"/>
                </a:solidFill>
                <a:latin typeface="Kim jung chul Gothic Regular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358100" y="5295900"/>
            <a:ext cx="1104900" cy="381000"/>
          </a:xfrm>
          <a:prstGeom prst="rect">
            <a:avLst/>
          </a:prstGeom>
        </p:spPr>
        <p:txBody>
          <a:bodyPr lIns="0" tIns="270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133" b="0" i="0" u="none" strike="noStrike">
                <a:solidFill>
                  <a:srgbClr val="585755"/>
                </a:solidFill>
                <a:latin typeface="Kim jung chul Gothic Bold"/>
              </a:rPr>
              <a:t>STEP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73200" y="5524500"/>
            <a:ext cx="1498600" cy="1092200"/>
          </a:xfrm>
          <a:prstGeom prst="rect">
            <a:avLst/>
          </a:prstGeom>
        </p:spPr>
        <p:txBody>
          <a:bodyPr lIns="0" tIns="778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6133" b="0" i="0" u="none" strike="noStrike">
                <a:solidFill>
                  <a:srgbClr val="585755"/>
                </a:solidFill>
                <a:latin typeface="Kim jung chul Gothic Regular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76400" y="5295900"/>
            <a:ext cx="1104900" cy="381000"/>
          </a:xfrm>
          <a:prstGeom prst="rect">
            <a:avLst/>
          </a:prstGeom>
        </p:spPr>
        <p:txBody>
          <a:bodyPr lIns="0" tIns="270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133" b="0" i="0" u="none" strike="noStrike">
                <a:solidFill>
                  <a:srgbClr val="585755"/>
                </a:solidFill>
                <a:latin typeface="Kim jung chul Gothic Bold"/>
              </a:rPr>
              <a:t>STEP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91500" y="5524500"/>
            <a:ext cx="1498600" cy="1092200"/>
          </a:xfrm>
          <a:prstGeom prst="rect">
            <a:avLst/>
          </a:prstGeom>
        </p:spPr>
        <p:txBody>
          <a:bodyPr lIns="0" tIns="778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6133" b="0" i="0" u="none" strike="noStrike">
                <a:solidFill>
                  <a:srgbClr val="585755"/>
                </a:solidFill>
                <a:latin typeface="Kim jung chul Gothic Regular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0" y="5295900"/>
            <a:ext cx="1104900" cy="381000"/>
          </a:xfrm>
          <a:prstGeom prst="rect">
            <a:avLst/>
          </a:prstGeom>
        </p:spPr>
        <p:txBody>
          <a:bodyPr lIns="0" tIns="270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133" b="0" i="0" u="none" strike="noStrike">
                <a:solidFill>
                  <a:srgbClr val="585755"/>
                </a:solidFill>
                <a:latin typeface="Kim jung chul Gothic Bold"/>
              </a:rPr>
              <a:t>STEP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800" y="9131300"/>
            <a:ext cx="42926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요구사항을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구체화하고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프로젝트의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기술적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기반을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완성하는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단계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4194" y="7523256"/>
            <a:ext cx="4635500" cy="660400"/>
          </a:xfrm>
          <a:prstGeom prst="rect">
            <a:avLst/>
          </a:prstGeom>
        </p:spPr>
        <p:txBody>
          <a:bodyPr lIns="0" tIns="47413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733" b="0" i="0" u="none" strike="noStrike" dirty="0">
                <a:solidFill>
                  <a:srgbClr val="585755"/>
                </a:solidFill>
                <a:ea typeface="Kim jung chul Gothic Bold"/>
              </a:rPr>
              <a:t>기획</a:t>
            </a:r>
            <a:r>
              <a:rPr lang="en-US" sz="3733" b="0" i="0" u="none" strike="noStrike" dirty="0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 dirty="0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3733" b="0" i="0" u="none" strike="noStrike" dirty="0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 dirty="0">
                <a:solidFill>
                  <a:srgbClr val="585755"/>
                </a:solidFill>
                <a:ea typeface="Kim jung chul Gothic Bold"/>
              </a:rPr>
              <a:t>핵심</a:t>
            </a:r>
            <a:r>
              <a:rPr lang="en-US" sz="3733" b="0" i="0" u="none" strike="noStrike" dirty="0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 dirty="0">
                <a:solidFill>
                  <a:srgbClr val="585755"/>
                </a:solidFill>
                <a:ea typeface="Kim jung chul Gothic Bold"/>
              </a:rPr>
              <a:t>설계</a:t>
            </a:r>
            <a:r>
              <a:rPr lang="en-US" sz="3733" b="0" i="0" u="none" strike="noStrike" dirty="0">
                <a:solidFill>
                  <a:srgbClr val="585755"/>
                </a:solidFill>
                <a:latin typeface="Kim jung chul Gothic Bold"/>
              </a:rPr>
              <a:t>(3</a:t>
            </a:r>
            <a:r>
              <a:rPr lang="ko-KR" sz="3733" b="0" i="0" u="none" strike="noStrike" dirty="0">
                <a:solidFill>
                  <a:srgbClr val="585755"/>
                </a:solidFill>
                <a:ea typeface="Kim jung chul Gothic Bold"/>
              </a:rPr>
              <a:t>주</a:t>
            </a:r>
            <a:r>
              <a:rPr lang="en-US" sz="3733" b="0" i="0" u="none" strike="noStrike" dirty="0">
                <a:solidFill>
                  <a:srgbClr val="585755"/>
                </a:solidFill>
                <a:latin typeface="Kim jung chul Gothic Bold"/>
              </a:rPr>
              <a:t>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97100" y="5524500"/>
            <a:ext cx="1498600" cy="1092200"/>
          </a:xfrm>
          <a:prstGeom prst="rect">
            <a:avLst/>
          </a:prstGeom>
        </p:spPr>
        <p:txBody>
          <a:bodyPr lIns="0" tIns="778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6133" b="0" i="0" u="none" strike="noStrike">
                <a:solidFill>
                  <a:srgbClr val="585755"/>
                </a:solidFill>
                <a:latin typeface="Kim jung chul Gothic Regular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00300" y="5308600"/>
            <a:ext cx="1104900" cy="381000"/>
          </a:xfrm>
          <a:prstGeom prst="rect">
            <a:avLst/>
          </a:prstGeom>
        </p:spPr>
        <p:txBody>
          <a:bodyPr lIns="0" tIns="270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133" b="0" i="0" u="none" strike="noStrike">
                <a:solidFill>
                  <a:srgbClr val="585755"/>
                </a:solidFill>
                <a:latin typeface="Kim jung chul Gothic Bold"/>
              </a:rPr>
              <a:t>STEP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14500" y="1066800"/>
            <a:ext cx="88138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프로젝트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수행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일정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개요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62750" y="7518400"/>
            <a:ext cx="5054600" cy="660400"/>
          </a:xfrm>
          <a:prstGeom prst="rect">
            <a:avLst/>
          </a:prstGeom>
        </p:spPr>
        <p:txBody>
          <a:bodyPr lIns="0" tIns="47413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733" b="0" i="0" u="none" strike="noStrike" dirty="0">
                <a:solidFill>
                  <a:srgbClr val="585755"/>
                </a:solidFill>
                <a:ea typeface="Kim jung chul Gothic Bold"/>
              </a:rPr>
              <a:t>핵심</a:t>
            </a:r>
            <a:r>
              <a:rPr lang="en-US" sz="3733" b="0" i="0" u="none" strike="noStrike" dirty="0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 dirty="0">
                <a:solidFill>
                  <a:srgbClr val="585755"/>
                </a:solidFill>
                <a:ea typeface="Kim jung chul Gothic Bold"/>
              </a:rPr>
              <a:t>기능</a:t>
            </a:r>
            <a:r>
              <a:rPr lang="en-US" sz="3733" b="0" i="0" u="none" strike="noStrike" dirty="0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 dirty="0">
                <a:solidFill>
                  <a:srgbClr val="585755"/>
                </a:solidFill>
                <a:ea typeface="Kim jung chul Gothic Bold"/>
              </a:rPr>
              <a:t>개발</a:t>
            </a:r>
            <a:r>
              <a:rPr lang="en-US" sz="3733" b="0" i="0" u="none" strike="noStrike" dirty="0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 dirty="0">
                <a:solidFill>
                  <a:srgbClr val="585755"/>
                </a:solidFill>
                <a:ea typeface="Kim jung chul Gothic Bold"/>
              </a:rPr>
              <a:t>구축</a:t>
            </a:r>
            <a:r>
              <a:rPr lang="en-US" sz="3733" b="0" i="0" u="none" strike="noStrike" dirty="0">
                <a:solidFill>
                  <a:srgbClr val="585755"/>
                </a:solidFill>
                <a:latin typeface="Kim jung chul Gothic Bold"/>
              </a:rPr>
              <a:t>(4</a:t>
            </a:r>
            <a:r>
              <a:rPr lang="ko-KR" sz="3733" b="0" i="0" u="none" strike="noStrike" dirty="0">
                <a:solidFill>
                  <a:srgbClr val="585755"/>
                </a:solidFill>
                <a:ea typeface="Kim jung chul Gothic Bold"/>
              </a:rPr>
              <a:t>주</a:t>
            </a:r>
            <a:r>
              <a:rPr lang="en-US" sz="3733" b="0" i="0" u="none" strike="noStrike" dirty="0">
                <a:solidFill>
                  <a:srgbClr val="585755"/>
                </a:solidFill>
                <a:latin typeface="Kim jung chul Gothic Bold"/>
              </a:rPr>
              <a:t>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73000" y="7531100"/>
            <a:ext cx="5638800" cy="1231900"/>
          </a:xfrm>
          <a:prstGeom prst="rect">
            <a:avLst/>
          </a:prstGeom>
        </p:spPr>
        <p:txBody>
          <a:bodyPr lIns="0" tIns="4741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AI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기능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 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대화형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시스템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구현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(3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주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783300" y="7531100"/>
            <a:ext cx="5092700" cy="1231900"/>
          </a:xfrm>
          <a:prstGeom prst="rect">
            <a:avLst/>
          </a:prstGeom>
        </p:spPr>
        <p:txBody>
          <a:bodyPr lIns="0" tIns="47413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통합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테스트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최종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완료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(2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주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88000" y="9118600"/>
            <a:ext cx="58547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실시간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통신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,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데이터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처리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API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처리의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기본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구조를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구축하는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가장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집중적인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개발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단계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141200" y="9131300"/>
            <a:ext cx="51562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프로젝트의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핵심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차별점인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'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대화형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생성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'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기능을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집중적으로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개발하는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단계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551400" y="9114465"/>
            <a:ext cx="5613400" cy="8509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개발된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모든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기능들을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통합하여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테스트하고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, </a:t>
            </a:r>
          </a:p>
          <a:p>
            <a:pPr lvl="0" algn="ctr">
              <a:lnSpc>
                <a:spcPct val="116199"/>
              </a:lnSpc>
            </a:pP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프로젝트를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최종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마무리하는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단계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898" y="3525677"/>
            <a:ext cx="11366503" cy="729509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21" y="3581400"/>
            <a:ext cx="11279680" cy="7239374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8876620"/>
            <a:ext cx="10426700" cy="1193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7402486"/>
            <a:ext cx="10426700" cy="1193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928352"/>
            <a:ext cx="10426700" cy="1193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937000" y="11798300"/>
            <a:ext cx="16497300" cy="660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결론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: '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자연어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'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와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'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모바일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센서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'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를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결합한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우리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프로젝트의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명확한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차별성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존재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16300" y="4381500"/>
            <a:ext cx="4622800" cy="8255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4617" b="0" i="0" u="none" strike="noStrike">
                <a:solidFill>
                  <a:srgbClr val="222222"/>
                </a:solidFill>
                <a:ea typeface="Kim jung chul Gothic Bold"/>
              </a:rPr>
              <a:t>유사</a:t>
            </a:r>
            <a:r>
              <a:rPr lang="en-US" sz="4617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617" b="0" i="0" u="none" strike="noStrike">
                <a:solidFill>
                  <a:srgbClr val="222222"/>
                </a:solidFill>
                <a:ea typeface="Kim jung chul Gothic Bold"/>
              </a:rPr>
              <a:t>서비스</a:t>
            </a:r>
            <a:r>
              <a:rPr lang="en-US" sz="4617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617" b="0" i="0" u="none" strike="noStrike">
                <a:solidFill>
                  <a:srgbClr val="222222"/>
                </a:solidFill>
                <a:ea typeface="Kim jung chul Gothic Bold"/>
              </a:rPr>
              <a:t>분석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5900" y="9194120"/>
            <a:ext cx="94615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웹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기술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: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고성능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웹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기술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(</a:t>
            </a:r>
            <a:r>
              <a:rPr lang="en-US" sz="2898" b="0" i="0" u="none" strike="noStrike" dirty="0" err="1">
                <a:solidFill>
                  <a:srgbClr val="222222"/>
                </a:solidFill>
                <a:latin typeface="Kim jung chul Gothic Regular"/>
              </a:rPr>
              <a:t>WebGL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en-US" sz="2898" b="0" i="0" u="none" strike="noStrike" dirty="0" err="1">
                <a:solidFill>
                  <a:srgbClr val="222222"/>
                </a:solidFill>
                <a:latin typeface="Kim jung chul Gothic Regular"/>
              </a:rPr>
              <a:t>WebSocket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)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발전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85900" y="7719986"/>
            <a:ext cx="94615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No-Code :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개발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민주화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플랫폼의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급성장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(e.g. , Bubble)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85900" y="6258552"/>
            <a:ext cx="94615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생성형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AI :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코드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생성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AI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상용화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(e.g. , GitHub Copilot)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70400" y="4381500"/>
            <a:ext cx="3048000" cy="8255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4617" b="0" i="0" u="none" strike="noStrike">
                <a:solidFill>
                  <a:srgbClr val="222222"/>
                </a:solidFill>
                <a:ea typeface="Kim jung chul Gothic Bold"/>
              </a:rPr>
              <a:t>기술</a:t>
            </a:r>
            <a:r>
              <a:rPr lang="en-US" sz="4617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617" b="0" i="0" u="none" strike="noStrike">
                <a:solidFill>
                  <a:srgbClr val="222222"/>
                </a:solidFill>
                <a:ea typeface="Kim jung chul Gothic Bold"/>
              </a:rPr>
              <a:t>트렌트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3700" y="1066800"/>
            <a:ext cx="70231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399" b="0" i="0" u="none" strike="noStrike">
                <a:solidFill>
                  <a:srgbClr val="585755"/>
                </a:solidFill>
                <a:ea typeface="Kim jung chul Gothic Bold"/>
              </a:rPr>
              <a:t>시장</a:t>
            </a:r>
            <a:r>
              <a:rPr lang="en-US" sz="6399" b="0" i="0" u="none" strike="noStrike">
                <a:solidFill>
                  <a:srgbClr val="585755"/>
                </a:solidFill>
                <a:latin typeface="Kim jung chul Gothic Bold"/>
              </a:rPr>
              <a:t>/</a:t>
            </a:r>
            <a:r>
              <a:rPr lang="ko-KR" sz="6399" b="0" i="0" u="none" strike="noStrike">
                <a:solidFill>
                  <a:srgbClr val="585755"/>
                </a:solidFill>
                <a:ea typeface="Kim jung chul Gothic Bold"/>
              </a:rPr>
              <a:t>기술</a:t>
            </a:r>
            <a:r>
              <a:rPr lang="en-US" sz="6399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399" b="0" i="0" u="none" strike="noStrike">
                <a:solidFill>
                  <a:srgbClr val="585755"/>
                </a:solidFill>
                <a:ea typeface="Kim jung chul Gothic Bold"/>
              </a:rPr>
              <a:t>동향</a:t>
            </a:r>
            <a:r>
              <a:rPr lang="en-US" sz="6399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399" b="0" i="0" u="none" strike="noStrike">
                <a:solidFill>
                  <a:srgbClr val="585755"/>
                </a:solidFill>
                <a:ea typeface="Kim jung chul Gothic Bold"/>
              </a:rPr>
              <a:t>분석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24329" y="8099677"/>
            <a:ext cx="10426700" cy="119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24329" y="5928352"/>
            <a:ext cx="10426700" cy="1193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695829" y="8417177"/>
            <a:ext cx="97028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Scratch :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교육적이나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텍스트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기반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창작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연동에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한계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670429" y="6245852"/>
            <a:ext cx="109728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 err="1">
                <a:solidFill>
                  <a:srgbClr val="222222"/>
                </a:solidFill>
                <a:latin typeface="Kim jung chul Gothic Regular"/>
              </a:rPr>
              <a:t>Roblox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/ZEPETO :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제작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자유도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높음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,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학습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연동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제한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4635500"/>
            <a:ext cx="9232900" cy="3251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0388600" y="4229100"/>
            <a:ext cx="8255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755900" y="5892800"/>
            <a:ext cx="8559800" cy="1282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AI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와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연동을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결합한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독창적이고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혁신적인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아이디어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RAG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아키텍처를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통해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프로젝트에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특화된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고품질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코드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생성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가능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웹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기반으로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별도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설치가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필요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없어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접근성이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매우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높음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51300" y="5156200"/>
            <a:ext cx="30988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Strength (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강점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55900" y="46355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FF8C6C"/>
                </a:solidFill>
                <a:latin typeface="Kim jung chul Gothic Regular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8300" y="1028700"/>
            <a:ext cx="56261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SWOT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분석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2200" y="4635500"/>
            <a:ext cx="9232900" cy="3251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92100" y="6223000"/>
            <a:ext cx="8559800" cy="8509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OpenAI, Anthropic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등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외부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API</a:t>
            </a:r>
            <a:r>
              <a:rPr lang="ko-KR" sz="2400" b="1" i="0" u="none" strike="noStrike" dirty="0" err="1">
                <a:solidFill>
                  <a:srgbClr val="222222"/>
                </a:solidFill>
                <a:ea typeface="Kim jung chul Gothic Regular"/>
              </a:rPr>
              <a:t>에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대한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의존성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PC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와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스마트폰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두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개의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기기가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필수적인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사용자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경험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57300" y="5156200"/>
            <a:ext cx="37465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Weakness (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약점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61900" y="46355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FF8C6C"/>
                </a:solidFill>
                <a:latin typeface="Kim jung chul Gothic Regular"/>
              </a:rPr>
              <a:t>02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20256500" y="4229100"/>
            <a:ext cx="825500" cy="901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6200" y="8255000"/>
            <a:ext cx="9232900" cy="325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0388600" y="7848600"/>
            <a:ext cx="825500" cy="901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616200" y="9677400"/>
            <a:ext cx="9194800" cy="1282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생성형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AI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사용자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제작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콘텐츠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(UGC)</a:t>
            </a:r>
            <a:r>
              <a:rPr lang="ko-KR" sz="2400" b="1" i="0" u="none" strike="noStrike" dirty="0" err="1">
                <a:solidFill>
                  <a:srgbClr val="222222"/>
                </a:solidFill>
                <a:ea typeface="Kim jung chul Gothic Regular"/>
              </a:rPr>
              <a:t>에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대한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시장의</a:t>
            </a:r>
            <a:r>
              <a:rPr lang="en-US" altLang="ko-KR" sz="2400" b="1" dirty="0">
                <a:solidFill>
                  <a:srgbClr val="222222"/>
                </a:solidFill>
                <a:latin typeface="Kim jung chul Gothic Regular"/>
                <a:ea typeface="Kim jung chul Gothic Regular"/>
              </a:rPr>
              <a:t> </a:t>
            </a:r>
            <a:r>
              <a:rPr lang="ko-KR" altLang="en-US" sz="2400" b="1" dirty="0">
                <a:solidFill>
                  <a:srgbClr val="222222"/>
                </a:solidFill>
                <a:latin typeface="Kim jung chul Gothic Regular"/>
                <a:ea typeface="Kim jung chul Gothic Regular"/>
              </a:rPr>
              <a:t>높은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관심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코딩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교육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창의력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증진을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위한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교육용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플랫폼으로의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확장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가능성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새로운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장르의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'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'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시장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개척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가능성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51300" y="8775700"/>
            <a:ext cx="37846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Opportunity (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기회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55900" y="82550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FF8C6C"/>
                </a:solidFill>
                <a:latin typeface="Kim jung chul Gothic Regular"/>
              </a:rPr>
              <a:t>03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2200" y="8255000"/>
            <a:ext cx="9232900" cy="32512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2992100" y="9626600"/>
            <a:ext cx="8864600" cy="1282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LLM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기술의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빠른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발전으로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현재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모델이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단기간에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구식이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될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수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있음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외부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API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의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요금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정책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변경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또는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서비스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중단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리스크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유사한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아이디어를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가진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거대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자본의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시장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진입</a:t>
            </a:r>
            <a:r>
              <a:rPr lang="en-US" sz="2400" b="1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 dirty="0">
                <a:solidFill>
                  <a:srgbClr val="222222"/>
                </a:solidFill>
                <a:ea typeface="Kim jung chul Gothic Regular"/>
              </a:rPr>
              <a:t>가능성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957300" y="8775700"/>
            <a:ext cx="30988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Threat (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위협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61900" y="82550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FF8C6C"/>
                </a:solidFill>
                <a:latin typeface="Kim jung chul Gothic Regular"/>
              </a:rPr>
              <a:t>04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20256500" y="7848600"/>
            <a:ext cx="8255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3670300"/>
            <a:ext cx="927100" cy="673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019300" y="3670300"/>
            <a:ext cx="9639300" cy="1397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7864" b="0" i="0" u="none" strike="noStrike">
                <a:solidFill>
                  <a:srgbClr val="222222"/>
                </a:solidFill>
                <a:ea typeface="Kim jung chul Gothic Bold"/>
              </a:rPr>
              <a:t>최종</a:t>
            </a:r>
            <a:r>
              <a:rPr lang="en-US" sz="7864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7864" b="0" i="0" u="none" strike="noStrike">
                <a:solidFill>
                  <a:srgbClr val="222222"/>
                </a:solidFill>
                <a:ea typeface="Kim jung chul Gothic Bold"/>
              </a:rPr>
              <a:t>목표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51000" y="1028700"/>
            <a:ext cx="83439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제안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목표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수행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방향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8800" y="6553200"/>
            <a:ext cx="213360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사용자와의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'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멀티턴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대화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'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의도를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파악하여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센서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연동형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웹게임을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'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완전한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코드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'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생성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즉시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
 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플레이를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제공하는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지능형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웹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플랫폼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4635500"/>
            <a:ext cx="9232900" cy="295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0388600" y="4229100"/>
            <a:ext cx="8255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086100" y="6248400"/>
            <a:ext cx="85598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실시간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세션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관리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데이터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통신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프레임워크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(SessionSDK.js
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SessionManager.js)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를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안정적으로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구축한다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46700" y="5156200"/>
            <a:ext cx="30988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기반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구축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55900" y="4635500"/>
            <a:ext cx="32385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8000" b="0" i="0" u="none" strike="noStrike">
                <a:solidFill>
                  <a:srgbClr val="FF8C6C"/>
                </a:solidFill>
                <a:latin typeface="Kim jung chul Gothic Regular"/>
              </a:rPr>
              <a:t>1</a:t>
            </a:r>
            <a:r>
              <a:rPr lang="ko-KR" sz="8000" b="0" i="0" u="none" strike="noStrike">
                <a:solidFill>
                  <a:srgbClr val="FF8C6C"/>
                </a:solidFill>
                <a:ea typeface="Kim jung chul Gothic Regular"/>
              </a:rPr>
              <a:t>단계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8300" y="1028700"/>
            <a:ext cx="84074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제안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목표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수행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방향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2200" y="4635500"/>
            <a:ext cx="9232900" cy="2959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92100" y="6248400"/>
            <a:ext cx="85598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AI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모델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(LLM)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연동하여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싱글턴으로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기본적인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로직을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생성하는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기능을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구현한다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417800" y="5156200"/>
            <a:ext cx="37465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핵심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기능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구현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61900" y="4635500"/>
            <a:ext cx="30226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8000" b="0" i="0" u="none" strike="noStrike">
                <a:solidFill>
                  <a:srgbClr val="FF8C6C"/>
                </a:solidFill>
                <a:latin typeface="Kim jung chul Gothic Regular"/>
              </a:rPr>
              <a:t>2</a:t>
            </a:r>
            <a:r>
              <a:rPr lang="ko-KR" sz="8000" b="0" i="0" u="none" strike="noStrike">
                <a:solidFill>
                  <a:srgbClr val="FF8C6C"/>
                </a:solidFill>
                <a:ea typeface="Kim jung chul Gothic Regular"/>
              </a:rPr>
              <a:t>단계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20256500" y="4229100"/>
            <a:ext cx="825500" cy="901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6200" y="8255000"/>
            <a:ext cx="9232900" cy="2959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0388600" y="7848600"/>
            <a:ext cx="825500" cy="901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086100" y="9842500"/>
            <a:ext cx="91948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RAG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파이프라인을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구축하고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멀티턴을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통해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사용자의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요구사항을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구체화하고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게임을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완성하는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'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대화형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생성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'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기능을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구현한다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46700" y="8775700"/>
            <a:ext cx="37846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200" b="0" i="0" u="none" strike="noStrike">
                <a:solidFill>
                  <a:srgbClr val="222222"/>
                </a:solidFill>
                <a:ea typeface="Kim jung chul Gothic Bold"/>
              </a:rPr>
              <a:t>고도화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55900" y="8255000"/>
            <a:ext cx="28321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8000" b="0" i="0" u="none" strike="noStrike">
                <a:solidFill>
                  <a:srgbClr val="FF8C6C"/>
                </a:solidFill>
                <a:latin typeface="Kim jung chul Gothic Regular"/>
              </a:rPr>
              <a:t>3</a:t>
            </a:r>
            <a:r>
              <a:rPr lang="ko-KR" sz="8000" b="0" i="0" u="none" strike="noStrike">
                <a:solidFill>
                  <a:srgbClr val="FF8C6C"/>
                </a:solidFill>
                <a:ea typeface="Kim jung chul Gothic Regular"/>
              </a:rPr>
              <a:t>단계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22200" y="8255000"/>
            <a:ext cx="9232900" cy="2959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2992100" y="9842500"/>
            <a:ext cx="88646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생성된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게임을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저장하고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동적으로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목록에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추가하며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사용자가</a:t>
            </a:r>
            <a:b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</a:b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즉시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플레이할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수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있는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전체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워크플로우를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완성하고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테스트한다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379700" y="8775700"/>
            <a:ext cx="30988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완성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배포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61900" y="8255000"/>
            <a:ext cx="30226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8000" b="0" i="0" u="none" strike="noStrike">
                <a:solidFill>
                  <a:srgbClr val="FF8C6C"/>
                </a:solidFill>
                <a:latin typeface="Kim jung chul Gothic Regular"/>
              </a:rPr>
              <a:t>4</a:t>
            </a:r>
            <a:r>
              <a:rPr lang="ko-KR" sz="8000" b="0" i="0" u="none" strike="noStrike">
                <a:solidFill>
                  <a:srgbClr val="FF8C6C"/>
                </a:solidFill>
                <a:ea typeface="Kim jung chul Gothic Regular"/>
              </a:rPr>
              <a:t>단계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20256500" y="7848600"/>
            <a:ext cx="825500" cy="901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" y="2692400"/>
            <a:ext cx="927100" cy="6731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603500" y="2895600"/>
            <a:ext cx="6375400" cy="927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5197" b="0" i="0" u="none" strike="noStrike">
                <a:solidFill>
                  <a:srgbClr val="222222"/>
                </a:solidFill>
                <a:ea typeface="Kim jung chul Gothic Bold"/>
              </a:rPr>
              <a:t>세부</a:t>
            </a:r>
            <a:r>
              <a:rPr lang="en-US" sz="5197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197" b="0" i="0" u="none" strike="noStrike">
                <a:solidFill>
                  <a:srgbClr val="222222"/>
                </a:solidFill>
                <a:ea typeface="Kim jung chul Gothic Bold"/>
              </a:rPr>
              <a:t>목표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00" y="2514600"/>
            <a:ext cx="990600" cy="711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78100" y="4927600"/>
            <a:ext cx="15963900" cy="22733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200" b="0" i="0" u="none" strike="noStrike" dirty="0" err="1">
                <a:solidFill>
                  <a:srgbClr val="222222"/>
                </a:solidFill>
                <a:ea typeface="Kim jung chul Gothic Bold"/>
              </a:rPr>
              <a:t>백엔드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: Express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기반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API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서버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en-US" sz="3200" b="0" i="0" u="none" strike="noStrike" dirty="0" err="1">
                <a:solidFill>
                  <a:srgbClr val="222222"/>
                </a:solidFill>
                <a:latin typeface="Kim jung chul Gothic Bold"/>
              </a:rPr>
              <a:t>Socket.IO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기반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실시간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통신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서버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200" b="0" i="0" u="none" strike="noStrike" dirty="0" err="1">
                <a:solidFill>
                  <a:srgbClr val="222222"/>
                </a:solidFill>
                <a:ea typeface="Kim jung chul Gothic Bold"/>
              </a:rPr>
              <a:t>프론트엔드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: AI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대화형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생성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UI,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동적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허브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페이지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모바일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센서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클라이언트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페이지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AI: </a:t>
            </a:r>
            <a:r>
              <a:rPr lang="en-US" sz="3200" b="0" i="0" u="none" strike="noStrike" dirty="0" err="1">
                <a:solidFill>
                  <a:srgbClr val="222222"/>
                </a:solidFill>
                <a:latin typeface="Kim jung chul Gothic Bold"/>
              </a:rPr>
              <a:t>LangChain.js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기반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RAG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파이프라인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, OpenAI/Anthropic LLM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연동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모듈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DB: </a:t>
            </a:r>
            <a:r>
              <a:rPr lang="en-US" sz="3200" b="0" i="0" u="none" strike="noStrike" dirty="0" err="1">
                <a:solidFill>
                  <a:srgbClr val="222222"/>
                </a:solidFill>
                <a:latin typeface="Kim jung chul Gothic Bold"/>
              </a:rPr>
              <a:t>Supabase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벡터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DB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스키마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설계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연동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en-US" sz="3200" b="0" i="0" u="none" strike="noStrike" dirty="0" err="1">
                <a:solidFill>
                  <a:srgbClr val="222222"/>
                </a:solidFill>
                <a:latin typeface="Kim jung chul Gothic Bold"/>
              </a:rPr>
              <a:t>Supabase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Auth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01900" y="2730500"/>
            <a:ext cx="6985000" cy="1016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5698" b="0" i="0" u="none" strike="noStrike">
                <a:solidFill>
                  <a:srgbClr val="222222"/>
                </a:solidFill>
                <a:ea typeface="Kim jung chul Gothic Bold"/>
              </a:rPr>
              <a:t>프로젝트</a:t>
            </a:r>
            <a:r>
              <a:rPr lang="en-US" sz="5698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698" b="0" i="0" u="none" strike="noStrike">
                <a:solidFill>
                  <a:srgbClr val="222222"/>
                </a:solidFill>
                <a:ea typeface="Kim jung chul Gothic Bold"/>
              </a:rPr>
              <a:t>범위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1000" y="1028700"/>
            <a:ext cx="83439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제안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목표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수행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방향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35200" y="4064000"/>
            <a:ext cx="46228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개발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범위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78100" y="8394700"/>
            <a:ext cx="15963900" cy="17018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사용자는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웹을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통해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AI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와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대화하여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게임을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생성할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수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있다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.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생성된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게임은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플랫폼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내에서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즉시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플레이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가능하다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.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플레이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시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스마트폰을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컨트롤러로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사용할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수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있다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35200" y="7556500"/>
            <a:ext cx="46228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서비스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범위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78100" y="11087100"/>
            <a:ext cx="19558000" cy="17018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네이티브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모바일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앱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(iOS/Android)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개발은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포함하지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않는다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.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사용자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계정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시스템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생성된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게임의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영구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저장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/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수정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기능은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초기버전에서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제외한다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.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AI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가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생성하는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그래픽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/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사운드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리소스는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범위에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포함하지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않으며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기본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제공되는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요소나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텍스트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기반으로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처리한다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35200" y="10261600"/>
            <a:ext cx="46228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예외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범위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3670300"/>
            <a:ext cx="927100" cy="673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019300" y="3670300"/>
            <a:ext cx="9639300" cy="1397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7864" b="0" i="0" u="none" strike="noStrike">
                <a:solidFill>
                  <a:srgbClr val="222222"/>
                </a:solidFill>
                <a:ea typeface="Kim jung chul Gothic Bold"/>
              </a:rPr>
              <a:t>시스템</a:t>
            </a:r>
            <a:r>
              <a:rPr lang="en-US" sz="7864" b="0" i="0" u="none" strike="noStrike">
                <a:solidFill>
                  <a:srgbClr val="222222"/>
                </a:solidFill>
                <a:latin typeface="Kim jung chul Gothic Bold"/>
              </a:rPr>
              <a:t>/</a:t>
            </a:r>
            <a:r>
              <a:rPr lang="ko-KR" sz="7864" b="0" i="0" u="none" strike="noStrike">
                <a:solidFill>
                  <a:srgbClr val="222222"/>
                </a:solidFill>
                <a:ea typeface="Kim jung chul Gothic Bold"/>
              </a:rPr>
              <a:t>서비스</a:t>
            </a:r>
            <a:r>
              <a:rPr lang="en-US" sz="7864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7864" b="0" i="0" u="none" strike="noStrike">
                <a:solidFill>
                  <a:srgbClr val="222222"/>
                </a:solidFill>
                <a:ea typeface="Kim jung chul Gothic Bold"/>
              </a:rPr>
              <a:t>개요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51000" y="1028700"/>
            <a:ext cx="87376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시스템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/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서비스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개발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계획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8800" y="5562600"/>
            <a:ext cx="213360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본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시스템은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크게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'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생성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시스템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'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과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'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플레이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시스템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'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으로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나뉩니다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8800" y="7251700"/>
            <a:ext cx="213360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생성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시스템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: AI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와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채팅으로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대화하며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아이디어를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설명하면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, AI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가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요구사항을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반영하여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즉시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플레이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가능한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웹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코드를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자동으로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완성해주는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시스템입니다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8800" y="9652000"/>
            <a:ext cx="213360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플레이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시스템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: PC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웹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브라우저에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화면을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띄우고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스마트폰을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센서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컨트롤러로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연동하여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사용자의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움직임으로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게임을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조작하는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실시간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상호작용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시스템입니다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076700" y="5130800"/>
            <a:ext cx="1803400" cy="1104900"/>
          </a:xfrm>
          <a:prstGeom prst="rect">
            <a:avLst/>
          </a:prstGeom>
        </p:spPr>
        <p:txBody>
          <a:bodyPr lIns="0" tIns="7932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6245" b="0" i="0" u="none" strike="noStrike">
                <a:solidFill>
                  <a:srgbClr val="FFFFFF"/>
                </a:solidFill>
                <a:latin typeface="Kim jung chul Gothic Bold"/>
              </a:rPr>
              <a:t>15</a:t>
            </a:r>
            <a:r>
              <a:rPr lang="en" sz="3497" b="0" i="0" u="none" strike="noStrike">
                <a:solidFill>
                  <a:srgbClr val="FFFFFF"/>
                </a:solidFill>
                <a:latin typeface="Kim jung chul Gothic Bold"/>
              </a:rPr>
              <a:t>%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38300" y="1028700"/>
            <a:ext cx="85852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시스템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/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서비스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개발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계획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600" y="2895600"/>
            <a:ext cx="4965700" cy="927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아키텍처</a:t>
            </a:r>
            <a:r>
              <a:rPr lang="en-US" sz="5248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구성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4600" y="4965700"/>
            <a:ext cx="9817100" cy="5359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H/W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구성</a:t>
            </a:r>
          </a:p>
          <a:p>
            <a:pPr lvl="0" algn="l">
              <a:lnSpc>
                <a:spcPct val="116199"/>
              </a:lnSpc>
            </a:pPr>
            <a:endParaRPr lang="ko-KR" sz="3771" b="0" i="0" u="none" strike="noStrike">
              <a:solidFill>
                <a:srgbClr val="222222"/>
              </a:solidFill>
              <a:ea typeface="Kim jung chul Gothic Bold"/>
            </a:endParaRPr>
          </a:p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서버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: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클라우드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기반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가상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서버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(render)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또는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로컬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개발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PC</a:t>
            </a:r>
          </a:p>
          <a:p>
            <a:pPr lvl="0" algn="l">
              <a:lnSpc>
                <a:spcPct val="116199"/>
              </a:lnSpc>
            </a:pPr>
            <a:endParaRPr lang="en-US" sz="3771" b="0" i="0" u="none" strike="noStrike">
              <a:solidFill>
                <a:srgbClr val="222222"/>
              </a:solidFill>
              <a:latin typeface="Kim jung chul Gothic Bold"/>
            </a:endParaRPr>
          </a:p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클라이언트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: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웹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브라우저가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설치된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PC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자이로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/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가속도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센서가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내장된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스마트폰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74500" y="1028700"/>
            <a:ext cx="10642600" cy="2184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sz="4092" b="0" i="0" u="none" strike="noStrike">
                <a:solidFill>
                  <a:srgbClr val="222222"/>
                </a:solidFill>
                <a:latin typeface="Kim jung chul Gothic Bold"/>
              </a:rPr>
              <a:t>S/W </a:t>
            </a:r>
            <a:r>
              <a:rPr lang="ko-KR" sz="4092" b="0" i="0" u="none" strike="noStrike">
                <a:solidFill>
                  <a:srgbClr val="222222"/>
                </a:solidFill>
                <a:ea typeface="Kim jung chul Gothic Bold"/>
              </a:rPr>
              <a:t>구성</a:t>
            </a:r>
          </a:p>
          <a:p>
            <a:pPr lvl="0" algn="ctr">
              <a:lnSpc>
                <a:spcPct val="116199"/>
              </a:lnSpc>
            </a:pPr>
            <a:endParaRPr lang="ko-KR" sz="4092" b="0" i="0" u="none" strike="noStrike">
              <a:solidFill>
                <a:srgbClr val="222222"/>
              </a:solidFill>
              <a:ea typeface="Kim jung chul Gothic Bold"/>
            </a:endParaRPr>
          </a:p>
          <a:p>
            <a:pPr lvl="0" algn="ctr">
              <a:lnSpc>
                <a:spcPct val="116199"/>
              </a:lnSpc>
            </a:pPr>
            <a:endParaRPr lang="ko-KR" sz="4092" b="0" i="0" u="none" strike="noStrike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2417425" y="1697036"/>
            <a:ext cx="45415804" cy="806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07324864" descr="EMB000096b871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2700" y="2171700"/>
            <a:ext cx="8947150" cy="9955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2200" y="8216900"/>
            <a:ext cx="9232900" cy="295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8216900"/>
            <a:ext cx="9232900" cy="2959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2200" y="4635500"/>
            <a:ext cx="9232900" cy="295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00" y="4635500"/>
            <a:ext cx="9232900" cy="295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20281900" y="7772400"/>
            <a:ext cx="825500" cy="901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10401300" y="7772400"/>
            <a:ext cx="825500" cy="901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20256500" y="4229100"/>
            <a:ext cx="8255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10388600" y="4229100"/>
            <a:ext cx="825500" cy="901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982700" y="9210488"/>
            <a:ext cx="7874000" cy="1282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기능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: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세션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코드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입력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권한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요청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,</a:t>
            </a:r>
          </a:p>
          <a:p>
            <a:pPr marL="0" lvl="1" algn="l">
              <a:lnSpc>
                <a:spcPct val="116199"/>
              </a:lnSpc>
              <a:buClr>
                <a:srgbClr val="000000"/>
              </a:buClr>
            </a:pPr>
            <a:r>
              <a:rPr lang="en-US" alt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    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데이터</a:t>
            </a:r>
            <a:r>
              <a:rPr lang="en-US" altLang="ko-KR" sz="2400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시각화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 dirty="0" err="1">
                <a:solidFill>
                  <a:srgbClr val="222222"/>
                </a:solidFill>
                <a:ea typeface="Kim jung chul Gothic Regular"/>
              </a:rPr>
              <a:t>연결상태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표시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화면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: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코드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입력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필드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연결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버튼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데이터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실시간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 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그래프</a:t>
            </a:r>
            <a:b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</a:br>
            <a:endParaRPr lang="ko-KR" sz="2400" b="0" i="0" u="none" strike="noStrike" dirty="0">
              <a:solidFill>
                <a:srgbClr val="222222"/>
              </a:solidFill>
              <a:ea typeface="Kim jung chul Gothic Regular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3987182" y="8593418"/>
            <a:ext cx="53848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모바일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센서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클라이언트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페이지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91782" y="8212418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 dirty="0">
                <a:solidFill>
                  <a:srgbClr val="FF8C6C"/>
                </a:solidFill>
                <a:latin typeface="Kim jung chul Gothic Regular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56050" y="9336367"/>
            <a:ext cx="7035800" cy="1282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기능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: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캔버스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렌더링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세션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코드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QR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코드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표시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연결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상태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표시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화면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: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중앙의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캔버스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상단의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상태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표시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바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56050" y="8550835"/>
            <a:ext cx="34798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플레이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페이지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36850" y="8169835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 dirty="0">
                <a:solidFill>
                  <a:srgbClr val="FF8C6C"/>
                </a:solidFill>
                <a:latin typeface="Kim jung chul Gothic Regular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982700" y="5679889"/>
            <a:ext cx="7340600" cy="1282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기능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: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플레이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가능한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목록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동적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표시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통계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표시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개발자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도구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링크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화면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: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카드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그리드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검색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/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필터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기능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82700" y="4889500"/>
            <a:ext cx="30226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허브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페이지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87300" y="45593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 dirty="0">
                <a:solidFill>
                  <a:srgbClr val="FF8C6C"/>
                </a:solidFill>
                <a:latin typeface="Kim jung chul Gothic Regular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956050" y="5700059"/>
            <a:ext cx="7213600" cy="1282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기능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: AI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와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채팅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빠른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질문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버튼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생성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진행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상태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표시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최종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생성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다운로드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화면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: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채팅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UI, AI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상태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표시등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입력창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전송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버튼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74247" y="4889500"/>
            <a:ext cx="46736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대화형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생성</a:t>
            </a:r>
            <a:r>
              <a:rPr lang="en-US" sz="3200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Kim jung chul Gothic Bold"/>
              </a:rPr>
              <a:t>페이지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82047" y="45593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 dirty="0">
                <a:solidFill>
                  <a:srgbClr val="FF8C6C"/>
                </a:solidFill>
                <a:latin typeface="Kim jung chul Gothic Regular"/>
              </a:rPr>
              <a:t>01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4000" y="1066800"/>
            <a:ext cx="84963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시스템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/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서비스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개발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계획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2946400"/>
            <a:ext cx="6527800" cy="927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기능</a:t>
            </a:r>
            <a:r>
              <a:rPr lang="en-US" sz="5248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정의</a:t>
            </a:r>
            <a:r>
              <a:rPr lang="en-US" sz="5248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5248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주요</a:t>
            </a:r>
            <a:r>
              <a:rPr lang="en-US" sz="5248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화면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1241" y="3644046"/>
            <a:ext cx="11620841" cy="9398854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18" y="3644046"/>
            <a:ext cx="11601482" cy="9398854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59" y="8710893"/>
            <a:ext cx="10655300" cy="137923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759" y="7080677"/>
            <a:ext cx="10655300" cy="1193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759" y="5345846"/>
            <a:ext cx="106553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5541470" y="3962400"/>
            <a:ext cx="5105400" cy="8255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4617" b="0" i="0" u="none" strike="noStrike">
                <a:solidFill>
                  <a:srgbClr val="222222"/>
                </a:solidFill>
                <a:latin typeface="Kim jung chul Gothic Bold"/>
              </a:rPr>
              <a:t>In-Memory 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7291" y="8879808"/>
            <a:ext cx="97028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metadata (</a:t>
            </a:r>
            <a:r>
              <a:rPr lang="en-US" sz="2898" b="0" i="0" u="none" strike="noStrike" dirty="0" err="1">
                <a:solidFill>
                  <a:srgbClr val="222222"/>
                </a:solidFill>
                <a:latin typeface="Kim jung chul Gothic Regular"/>
              </a:rPr>
              <a:t>jsonb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):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출처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파일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경로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문서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타입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등의</a:t>
            </a:r>
            <a:r>
              <a:rPr lang="en-US" altLang="ko-KR" sz="2898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메타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정보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7291" y="7358316"/>
            <a:ext cx="94615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content (text):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분할된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문서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또는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코드의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원본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텍스트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7291" y="5593122"/>
            <a:ext cx="94615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id (</a:t>
            </a:r>
            <a:r>
              <a:rPr lang="en-US" sz="2898" b="0" i="0" u="none" strike="noStrike" dirty="0" err="1">
                <a:solidFill>
                  <a:srgbClr val="222222"/>
                </a:solidFill>
                <a:latin typeface="Kim jung chul Gothic Regular"/>
              </a:rPr>
              <a:t>uuid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, PK):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문서의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고유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ID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92650" y="4202846"/>
            <a:ext cx="3175000" cy="8255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4617" b="0" i="0" u="none" strike="noStrike" dirty="0">
                <a:solidFill>
                  <a:srgbClr val="222222"/>
                </a:solidFill>
                <a:latin typeface="Kim jung chul Gothic Bold"/>
              </a:rPr>
              <a:t>Vector DB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3700" y="1066800"/>
            <a:ext cx="84963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399" b="0" i="0" u="none" strike="noStrike">
                <a:solidFill>
                  <a:srgbClr val="585755"/>
                </a:solidFill>
                <a:ea typeface="Kim jung chul Gothic Bold"/>
              </a:rPr>
              <a:t>시스템</a:t>
            </a:r>
            <a:r>
              <a:rPr lang="en-US" sz="6399" b="0" i="0" u="none" strike="noStrike">
                <a:solidFill>
                  <a:srgbClr val="585755"/>
                </a:solidFill>
                <a:latin typeface="Kim jung chul Gothic Bold"/>
              </a:rPr>
              <a:t>/</a:t>
            </a:r>
            <a:r>
              <a:rPr lang="ko-KR" sz="6399" b="0" i="0" u="none" strike="noStrike">
                <a:solidFill>
                  <a:srgbClr val="585755"/>
                </a:solidFill>
                <a:ea typeface="Kim jung chul Gothic Bold"/>
              </a:rPr>
              <a:t>서비스</a:t>
            </a:r>
            <a:r>
              <a:rPr lang="en-US" sz="6399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399" b="0" i="0" u="none" strike="noStrike">
                <a:solidFill>
                  <a:srgbClr val="585755"/>
                </a:solidFill>
                <a:ea typeface="Kim jung chul Gothic Bold"/>
              </a:rPr>
              <a:t>개발</a:t>
            </a:r>
            <a:r>
              <a:rPr lang="en-US" sz="6399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399" b="0" i="0" u="none" strike="noStrike">
                <a:solidFill>
                  <a:srgbClr val="585755"/>
                </a:solidFill>
                <a:ea typeface="Kim jung chul Gothic Bold"/>
              </a:rPr>
              <a:t>계획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87217" y="6355123"/>
            <a:ext cx="10769940" cy="911492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22070" y="5105400"/>
            <a:ext cx="10747530" cy="916324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2934087" y="6479561"/>
            <a:ext cx="9723033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 err="1">
                <a:solidFill>
                  <a:srgbClr val="222222"/>
                </a:solidFill>
                <a:latin typeface="Kim jung chul Gothic Regular"/>
              </a:rPr>
              <a:t>sessionCode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(string): 4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자리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연결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코드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77906" y="5233135"/>
            <a:ext cx="109728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id (string):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세션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고유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ID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4600" y="2489200"/>
            <a:ext cx="6527800" cy="927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데이터</a:t>
            </a:r>
            <a:r>
              <a:rPr lang="en-US" sz="5248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구조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22237" y="8833839"/>
            <a:ext cx="10801320" cy="911492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99658" y="7600015"/>
            <a:ext cx="10823900" cy="911492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3000487" y="8955772"/>
            <a:ext cx="97028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 err="1">
                <a:solidFill>
                  <a:srgbClr val="222222"/>
                </a:solidFill>
                <a:latin typeface="Kim jung chul Gothic Regular"/>
              </a:rPr>
              <a:t>hostSocket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(object): PC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클라이언트의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소켓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정보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000488" y="7698025"/>
            <a:ext cx="109728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game (object):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연관된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정보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21428" y="11322995"/>
            <a:ext cx="10802129" cy="943172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99658" y="10061558"/>
            <a:ext cx="10823900" cy="94521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12944990" y="11483789"/>
            <a:ext cx="97028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state (string): 'waiting', 'ready', 'playing'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등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세션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상태</a:t>
            </a:r>
            <a:b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</a:br>
            <a:endParaRPr lang="ko-KR" sz="2898" b="0" i="0" u="none" strike="noStrike" dirty="0">
              <a:solidFill>
                <a:srgbClr val="222222"/>
              </a:solidFill>
              <a:ea typeface="Kim jung chul Gothic Regula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923606" y="10195941"/>
            <a:ext cx="109728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sensors (Map):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연결된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(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모바일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)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클라이언트들의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소켓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정보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9759" y="10550339"/>
            <a:ext cx="10655300" cy="11938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012809" y="10833100"/>
            <a:ext cx="10198100" cy="520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embedding (vector): content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를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벡터로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변환한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값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(AI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검색용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2200" y="4787900"/>
            <a:ext cx="10591800" cy="8229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0" y="4787900"/>
            <a:ext cx="10795000" cy="822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787900"/>
            <a:ext cx="10795000" cy="8229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409700" y="4787900"/>
            <a:ext cx="7810500" cy="8229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01000" y="8559800"/>
            <a:ext cx="406400" cy="76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19300" y="8559800"/>
            <a:ext cx="4064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900" y="8559800"/>
            <a:ext cx="406400" cy="76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8559800"/>
            <a:ext cx="406400" cy="76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0154900" y="7023100"/>
            <a:ext cx="1498600" cy="1092200"/>
          </a:xfrm>
          <a:prstGeom prst="rect">
            <a:avLst/>
          </a:prstGeom>
        </p:spPr>
        <p:txBody>
          <a:bodyPr lIns="0" tIns="778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6133" b="0" i="0" u="none" strike="noStrike">
                <a:solidFill>
                  <a:srgbClr val="585755"/>
                </a:solidFill>
                <a:latin typeface="Kim jung chul Gothic Regular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358100" y="6794500"/>
            <a:ext cx="1104900" cy="381000"/>
          </a:xfrm>
          <a:prstGeom prst="rect">
            <a:avLst/>
          </a:prstGeom>
        </p:spPr>
        <p:txBody>
          <a:bodyPr lIns="0" tIns="270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133" b="0" i="0" u="none" strike="noStrike">
                <a:solidFill>
                  <a:srgbClr val="585755"/>
                </a:solidFill>
                <a:latin typeface="Kim jung chul Gothic Bold"/>
              </a:rPr>
              <a:t>STEP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73200" y="7023100"/>
            <a:ext cx="1498600" cy="1092200"/>
          </a:xfrm>
          <a:prstGeom prst="rect">
            <a:avLst/>
          </a:prstGeom>
        </p:spPr>
        <p:txBody>
          <a:bodyPr lIns="0" tIns="778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6133" b="0" i="0" u="none" strike="noStrike">
                <a:solidFill>
                  <a:srgbClr val="585755"/>
                </a:solidFill>
                <a:latin typeface="Kim jung chul Gothic Regular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376400" y="6794500"/>
            <a:ext cx="1104900" cy="381000"/>
          </a:xfrm>
          <a:prstGeom prst="rect">
            <a:avLst/>
          </a:prstGeom>
        </p:spPr>
        <p:txBody>
          <a:bodyPr lIns="0" tIns="270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133" b="0" i="0" u="none" strike="noStrike">
                <a:solidFill>
                  <a:srgbClr val="585755"/>
                </a:solidFill>
                <a:latin typeface="Kim jung chul Gothic Bold"/>
              </a:rPr>
              <a:t>STEP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91500" y="7023100"/>
            <a:ext cx="1498600" cy="1092200"/>
          </a:xfrm>
          <a:prstGeom prst="rect">
            <a:avLst/>
          </a:prstGeom>
        </p:spPr>
        <p:txBody>
          <a:bodyPr lIns="0" tIns="778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6133" b="0" i="0" u="none" strike="noStrike">
                <a:solidFill>
                  <a:srgbClr val="585755"/>
                </a:solidFill>
                <a:latin typeface="Kim jung chul Gothic Regular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0" y="6794500"/>
            <a:ext cx="1104900" cy="381000"/>
          </a:xfrm>
          <a:prstGeom prst="rect">
            <a:avLst/>
          </a:prstGeom>
        </p:spPr>
        <p:txBody>
          <a:bodyPr lIns="0" tIns="270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133" b="0" i="0" u="none" strike="noStrike">
                <a:solidFill>
                  <a:srgbClr val="585755"/>
                </a:solidFill>
                <a:latin typeface="Kim jung chul Gothic Bold"/>
              </a:rPr>
              <a:t>STEP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50800" y="10096500"/>
            <a:ext cx="5118100" cy="25654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SessionManager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SessionSDK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설계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초기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구현</a:t>
            </a:r>
          </a:p>
          <a:p>
            <a:pPr marL="342900" lvl="1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PC-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모바일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WebSocket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연결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데이터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전송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구조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검증</a:t>
            </a:r>
          </a:p>
          <a:p>
            <a:pPr marL="342900" lvl="1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기본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템플릿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정적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허브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페이지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설계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6600" y="9042400"/>
            <a:ext cx="4635500" cy="660400"/>
          </a:xfrm>
          <a:prstGeom prst="rect">
            <a:avLst/>
          </a:prstGeom>
        </p:spPr>
        <p:txBody>
          <a:bodyPr lIns="0" tIns="47413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기획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핵심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설계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(3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주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97100" y="7023100"/>
            <a:ext cx="1498600" cy="1092200"/>
          </a:xfrm>
          <a:prstGeom prst="rect">
            <a:avLst/>
          </a:prstGeom>
        </p:spPr>
        <p:txBody>
          <a:bodyPr lIns="0" tIns="778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6133" b="0" i="0" u="none" strike="noStrike">
                <a:solidFill>
                  <a:srgbClr val="585755"/>
                </a:solidFill>
                <a:latin typeface="Kim jung chul Gothic Regular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00300" y="6794500"/>
            <a:ext cx="1104900" cy="381000"/>
          </a:xfrm>
          <a:prstGeom prst="rect">
            <a:avLst/>
          </a:prstGeom>
        </p:spPr>
        <p:txBody>
          <a:bodyPr lIns="0" tIns="2709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133" b="0" i="0" u="none" strike="noStrike">
                <a:solidFill>
                  <a:srgbClr val="585755"/>
                </a:solidFill>
                <a:latin typeface="Kim jung chul Gothic Bold"/>
              </a:rPr>
              <a:t>STEP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14500" y="1066800"/>
            <a:ext cx="88138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시스템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/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서비스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개발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계획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00800" y="9029700"/>
            <a:ext cx="5054600" cy="660400"/>
          </a:xfrm>
          <a:prstGeom prst="rect">
            <a:avLst/>
          </a:prstGeom>
        </p:spPr>
        <p:txBody>
          <a:bodyPr lIns="0" tIns="47413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핵심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기능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개발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구축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(4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주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573000" y="9029700"/>
            <a:ext cx="5638800" cy="1231900"/>
          </a:xfrm>
          <a:prstGeom prst="rect">
            <a:avLst/>
          </a:prstGeom>
        </p:spPr>
        <p:txBody>
          <a:bodyPr lIns="0" tIns="4741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AI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기능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 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대화형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시스템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구현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(3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주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783300" y="9029700"/>
            <a:ext cx="5092700" cy="1231900"/>
          </a:xfrm>
          <a:prstGeom prst="rect">
            <a:avLst/>
          </a:prstGeom>
        </p:spPr>
        <p:txBody>
          <a:bodyPr lIns="0" tIns="47413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통합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테스트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최종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완료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 </a:t>
            </a:r>
          </a:p>
          <a:p>
            <a:pPr lvl="0" algn="ctr">
              <a:lnSpc>
                <a:spcPct val="99600"/>
              </a:lnSpc>
            </a:pP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(2</a:t>
            </a:r>
            <a:r>
              <a:rPr lang="ko-KR" sz="3733" b="0" i="0" u="none" strike="noStrike">
                <a:solidFill>
                  <a:srgbClr val="585755"/>
                </a:solidFill>
                <a:ea typeface="Kim jung chul Gothic Bold"/>
              </a:rPr>
              <a:t>주</a:t>
            </a:r>
            <a:r>
              <a:rPr lang="en-US" sz="3733" b="0" i="0" u="none" strike="noStrike">
                <a:solidFill>
                  <a:srgbClr val="585755"/>
                </a:solidFill>
                <a:latin typeface="Kim jung chul Gothic Bold"/>
              </a:rPr>
              <a:t>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03900" y="9893300"/>
            <a:ext cx="5613400" cy="29845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dirty="0" err="1">
                <a:solidFill>
                  <a:srgbClr val="222222"/>
                </a:solidFill>
                <a:latin typeface="Kim jung chul Gothic Regular"/>
              </a:rPr>
              <a:t>AIAssistant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모듈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개발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LLM API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연동</a:t>
            </a:r>
          </a:p>
          <a:p>
            <a:pPr marL="342900" lvl="1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dirty="0" err="1">
                <a:solidFill>
                  <a:srgbClr val="222222"/>
                </a:solidFill>
                <a:latin typeface="Kim jung chul Gothic Regular"/>
              </a:rPr>
              <a:t>DocumentEmbedder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update-embeddings.js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스크립트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구현</a:t>
            </a:r>
          </a:p>
          <a:p>
            <a:pPr marL="342900" lvl="1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dirty="0" err="1">
                <a:solidFill>
                  <a:srgbClr val="222222"/>
                </a:solidFill>
                <a:latin typeface="Kim jung chul Gothic Regular"/>
              </a:rPr>
              <a:t>Supabase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벡터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DB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구축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1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차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RAG </a:t>
            </a:r>
          </a:p>
          <a:p>
            <a:pPr lvl="0" algn="ctr">
              <a:lnSpc>
                <a:spcPct val="116199"/>
              </a:lnSpc>
            </a:pP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파이프라인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구현</a:t>
            </a:r>
          </a:p>
          <a:p>
            <a:pPr marL="342900" lvl="1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단일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프롬프트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기반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생성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로직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(</a:t>
            </a:r>
            <a:r>
              <a:rPr lang="en-US" sz="2400" b="0" i="0" u="none" strike="noStrike" dirty="0" err="1">
                <a:solidFill>
                  <a:srgbClr val="222222"/>
                </a:solidFill>
                <a:latin typeface="Kim jung chul Gothic Regular"/>
              </a:rPr>
              <a:t>AIGameGenerator</a:t>
            </a:r>
            <a:r>
              <a:rPr lang="en-US" sz="2400" b="0" i="0" u="none" strike="noStrike" dirty="0">
                <a:solidFill>
                  <a:srgbClr val="222222"/>
                </a:solidFill>
                <a:latin typeface="Kim jung chul Gothic Regular"/>
              </a:rPr>
              <a:t>) </a:t>
            </a:r>
            <a:r>
              <a:rPr lang="ko-KR" sz="2400" b="0" i="0" u="none" strike="noStrike" dirty="0">
                <a:solidFill>
                  <a:srgbClr val="222222"/>
                </a:solidFill>
                <a:ea typeface="Kim jung chul Gothic Regular"/>
              </a:rPr>
              <a:t>개발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82400" y="10629900"/>
            <a:ext cx="5715000" cy="1282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InteractiveGameGenerator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모듈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개발</a:t>
            </a:r>
          </a:p>
          <a:p>
            <a:pPr marL="342900" lvl="1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대화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흐름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관리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요구사항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누적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기능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구현</a:t>
            </a:r>
          </a:p>
          <a:p>
            <a:pPr marL="342900" lvl="1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대화형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생성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UI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프론트엔드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개발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894300" y="10629900"/>
            <a:ext cx="5613400" cy="1282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전체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시스템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통합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테스트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버그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수정</a:t>
            </a:r>
          </a:p>
          <a:p>
            <a:pPr marL="342900" lvl="1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성능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최적화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안정화</a:t>
            </a:r>
          </a:p>
          <a:p>
            <a:pPr marL="342900" lvl="1" indent="-342900" algn="ctr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최종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배포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검증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완료</a:t>
            </a:r>
            <a:b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</a:br>
            <a:endParaRPr lang="ko-KR" sz="2400" b="0" i="0" u="none" strike="noStrike">
              <a:solidFill>
                <a:srgbClr val="222222"/>
              </a:solidFill>
              <a:ea typeface="Kim jung chul Gothic Regula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44600" y="2425700"/>
            <a:ext cx="6527800" cy="927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개발</a:t>
            </a:r>
            <a:r>
              <a:rPr lang="en-US" sz="5248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248" b="0" i="0" u="none" strike="noStrike">
                <a:solidFill>
                  <a:srgbClr val="222222"/>
                </a:solidFill>
                <a:ea typeface="Kim jung chul Gothic Bold"/>
              </a:rPr>
              <a:t>방법론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51000" y="3746500"/>
            <a:ext cx="21882100" cy="660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애자일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(Agile)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기반의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반복적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점진적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개발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(Iterative and Incremental Development)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방법론을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채택합니다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628900"/>
            <a:ext cx="927100" cy="673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816100" y="2266950"/>
            <a:ext cx="9639300" cy="1397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7864" b="0" i="0" u="none" strike="noStrike" dirty="0">
                <a:solidFill>
                  <a:srgbClr val="222222"/>
                </a:solidFill>
                <a:ea typeface="Kim jung chul Gothic Bold"/>
              </a:rPr>
              <a:t>프로젝트</a:t>
            </a:r>
            <a:r>
              <a:rPr lang="en-US" sz="7864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7864" b="0" i="0" u="none" strike="noStrike" dirty="0">
                <a:solidFill>
                  <a:srgbClr val="222222"/>
                </a:solidFill>
                <a:ea typeface="Kim jung chul Gothic Bold"/>
              </a:rPr>
              <a:t>일정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51000" y="1028700"/>
            <a:ext cx="83439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사업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관리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계획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568950" y="3567112"/>
            <a:ext cx="46903410" cy="790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206567648" descr="EMB000096b8710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950" y="3597592"/>
            <a:ext cx="13051118" cy="930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638300" y="1028700"/>
            <a:ext cx="84074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사업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관리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계획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300" y="2692400"/>
            <a:ext cx="927100" cy="673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603500" y="2895600"/>
            <a:ext cx="8953500" cy="927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5197" b="0" i="0" u="none" strike="noStrike">
                <a:solidFill>
                  <a:srgbClr val="222222"/>
                </a:solidFill>
                <a:ea typeface="Kim jung chul Gothic Bold"/>
              </a:rPr>
              <a:t>인력</a:t>
            </a:r>
            <a:r>
              <a:rPr lang="en-US" sz="5197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197" b="0" i="0" u="none" strike="noStrike">
                <a:solidFill>
                  <a:srgbClr val="222222"/>
                </a:solidFill>
                <a:ea typeface="Kim jung chul Gothic Bold"/>
              </a:rPr>
              <a:t>투입</a:t>
            </a:r>
            <a:r>
              <a:rPr lang="en-US" sz="5197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197" b="0" i="0" u="none" strike="noStrike">
                <a:solidFill>
                  <a:srgbClr val="222222"/>
                </a:solidFill>
                <a:ea typeface="Kim jung chul Gothic Bold"/>
              </a:rPr>
              <a:t>계획</a:t>
            </a:r>
            <a:r>
              <a:rPr lang="en-US" sz="5197" b="0" i="0" u="none" strike="noStrike">
                <a:solidFill>
                  <a:srgbClr val="222222"/>
                </a:solidFill>
                <a:latin typeface="Kim jung chul Gothic Bold"/>
              </a:rPr>
              <a:t> (</a:t>
            </a:r>
            <a:r>
              <a:rPr lang="ko-KR" sz="5197" b="0" i="0" u="none" strike="noStrike">
                <a:solidFill>
                  <a:srgbClr val="222222"/>
                </a:solidFill>
                <a:ea typeface="Kim jung chul Gothic Bold"/>
              </a:rPr>
              <a:t>역할</a:t>
            </a:r>
            <a:r>
              <a:rPr lang="en-US" sz="5197" b="0" i="0" u="none" strike="noStrike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5197" b="0" i="0" u="none" strike="noStrike">
                <a:solidFill>
                  <a:srgbClr val="222222"/>
                </a:solidFill>
                <a:ea typeface="Kim jung chul Gothic Bold"/>
              </a:rPr>
              <a:t>담당</a:t>
            </a:r>
            <a:r>
              <a:rPr lang="en-US" sz="5197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5197" b="0" i="0" u="none" strike="noStrike">
                <a:solidFill>
                  <a:srgbClr val="222222"/>
                </a:solidFill>
                <a:ea typeface="Kim jung chul Gothic Bold"/>
              </a:rPr>
              <a:t>업무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600" y="4533900"/>
            <a:ext cx="4737100" cy="6731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5994400"/>
            <a:ext cx="406400" cy="762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695700" y="6743700"/>
            <a:ext cx="4241800" cy="29845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프로젝트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총괄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일정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, 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리스크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관리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시스템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아키텍처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설계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주요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기술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스택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선정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팀원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업무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조율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협업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리딩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주요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마일스톤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관리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최종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산출물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검토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75300" y="5207000"/>
            <a:ext cx="18161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222222"/>
                </a:solidFill>
                <a:latin typeface="Kim jung chul Gothic Bold"/>
              </a:rPr>
              <a:t>PM,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Bold"/>
              </a:rPr>
              <a:t>시스템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Bold"/>
              </a:rPr>
              <a:t>아키텍트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86200" y="4940300"/>
            <a:ext cx="1778000" cy="800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4533" b="0" i="0" u="none" strike="noStrike">
                <a:solidFill>
                  <a:srgbClr val="222222"/>
                </a:solidFill>
                <a:ea typeface="Kim jung chul Gothic Bold"/>
              </a:rPr>
              <a:t>이재원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7100" y="4533900"/>
            <a:ext cx="4737100" cy="6731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9700" y="5994400"/>
            <a:ext cx="406400" cy="76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121900" y="6743700"/>
            <a:ext cx="4241800" cy="34163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Node.js, Express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기반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백엔드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서버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구축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데이터베이스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설계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AI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모델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연동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, RAG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파이프라인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구축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생성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로직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구현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
REST API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개발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서버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성능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최적화</a:t>
            </a:r>
            <a:b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</a:b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시스템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보안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확장성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설계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88800" y="5207000"/>
            <a:ext cx="1854200" cy="431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Bold"/>
              </a:rPr>
              <a:t>백엔드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Bold"/>
              </a:rPr>
              <a:t> &amp; AI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99700" y="4940300"/>
            <a:ext cx="1778000" cy="800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4533" b="0" i="0" u="none" strike="noStrike">
                <a:solidFill>
                  <a:srgbClr val="222222"/>
                </a:solidFill>
                <a:ea typeface="Kim jung chul Gothic Bold"/>
              </a:rPr>
              <a:t>조민혁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43300" y="4533900"/>
            <a:ext cx="4737100" cy="6731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25900" y="5994400"/>
            <a:ext cx="406400" cy="762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6535400" y="6743700"/>
            <a:ext cx="4165600" cy="34163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HTML, CSS, JavaScript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기반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웹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클라이언트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모바일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 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인터페이스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개발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사용자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경험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(UX)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인터페이스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(UI)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디자인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WebSocket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을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이용한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데이터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연동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기능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구현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반응형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UI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웹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접근성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  <a:t>준수</a:t>
            </a:r>
            <a:br>
              <a:rPr lang="ko-KR" sz="2400" b="0" i="0" u="none" strike="noStrike">
                <a:solidFill>
                  <a:srgbClr val="222222"/>
                </a:solidFill>
                <a:ea typeface="Kim jung chul Gothic Regular"/>
              </a:rPr>
            </a:br>
            <a:endParaRPr lang="ko-KR" sz="2400" b="0" i="0" u="none" strike="noStrike">
              <a:solidFill>
                <a:srgbClr val="222222"/>
              </a:solidFill>
              <a:ea typeface="Kim jung chul Gothic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415000" y="5207000"/>
            <a:ext cx="18542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2400" b="0" i="0" u="none" strike="noStrike">
                <a:solidFill>
                  <a:srgbClr val="222222"/>
                </a:solidFill>
                <a:ea typeface="Kim jung chul Gothic Bold"/>
              </a:rPr>
              <a:t>프론트엔드</a:t>
            </a:r>
            <a:r>
              <a:rPr lang="en-US" sz="2400" b="0" i="0" u="none" strike="noStrike">
                <a:solidFill>
                  <a:srgbClr val="222222"/>
                </a:solidFill>
                <a:latin typeface="Kim jung chul Gothic Bold"/>
              </a:rPr>
              <a:t> &amp; UI/UX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725900" y="4940300"/>
            <a:ext cx="1778000" cy="800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4533" b="0" i="0" u="none" strike="noStrike">
                <a:solidFill>
                  <a:srgbClr val="222222"/>
                </a:solidFill>
                <a:ea typeface="Kim jung chul Gothic Bold"/>
              </a:rPr>
              <a:t>안지민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3441700"/>
            <a:ext cx="571500" cy="406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25600" y="3441700"/>
            <a:ext cx="128905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예산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추정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(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필요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자원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: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장비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서버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, API,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기타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비용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51000" y="1028700"/>
            <a:ext cx="87376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사업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관리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계획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8800" y="4927600"/>
            <a:ext cx="213360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본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프로젝트는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졸업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작품으로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최소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비용으로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진행하는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것을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목표로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합니다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8800" y="6273800"/>
            <a:ext cx="213360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H/W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자원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: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개인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보유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노트북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스마트폰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활용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(0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원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28800" y="7620000"/>
            <a:ext cx="21336000" cy="4279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S/W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자원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: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서버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호스팅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: Render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등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무료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티어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활용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(0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원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)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4011" b="0" i="0" u="none" strike="noStrike">
                <a:solidFill>
                  <a:srgbClr val="222222"/>
                </a:solidFill>
                <a:latin typeface="Kim jung chul Gothic Bold"/>
              </a:rPr>
              <a:t>LLM API</a:t>
            </a:r>
          </a:p>
          <a:p>
            <a:pPr lvl="0" algn="l">
              <a:lnSpc>
                <a:spcPct val="116199"/>
              </a:lnSpc>
            </a:pP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OpenAI API: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무료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크레딧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또는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소액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결제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(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월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10$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내외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예상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)</a:t>
            </a:r>
          </a:p>
          <a:p>
            <a:pPr lvl="0" algn="l">
              <a:lnSpc>
                <a:spcPct val="116199"/>
              </a:lnSpc>
            </a:pP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Anthropic API: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무료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크레딧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또는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소액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결제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(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월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10$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내외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예상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)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Vector DB: Supabase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무료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티어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활용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 (0</a:t>
            </a:r>
            <a:r>
              <a:rPr lang="ko-KR" sz="4011" b="0" i="0" u="none" strike="noStrike">
                <a:solidFill>
                  <a:srgbClr val="222222"/>
                </a:solidFill>
                <a:ea typeface="Kim jung chul Gothic Bold"/>
              </a:rPr>
              <a:t>원</a:t>
            </a:r>
            <a:r>
              <a:rPr lang="en-US" sz="4011" b="0" i="0" u="none" strike="noStrike">
                <a:solidFill>
                  <a:srgbClr val="222222"/>
                </a:solidFill>
                <a:latin typeface="Kim jung chul Gothic Bold"/>
              </a:rPr>
              <a:t>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37000" y="12534900"/>
            <a:ext cx="16497300" cy="660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총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예상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비용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: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개발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기간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중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약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50,000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원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(API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테스트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33" b="0" i="0" u="none" strike="noStrike">
                <a:solidFill>
                  <a:srgbClr val="222222"/>
                </a:solidFill>
                <a:ea typeface="Kim jung chul Gothic Bold"/>
              </a:rPr>
              <a:t>사용료</a:t>
            </a:r>
            <a:r>
              <a:rPr lang="en-US" sz="3733" b="0" i="0" u="none" strike="noStrike">
                <a:solidFill>
                  <a:srgbClr val="222222"/>
                </a:solidFill>
                <a:latin typeface="Kim jung chul Gothic Bold"/>
              </a:rPr>
              <a:t>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578100" y="4927600"/>
            <a:ext cx="15963900" cy="1701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-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외부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API(LLM, DB)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의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정책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변경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또는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중단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각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API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연동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부분을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추상화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계층으로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분리하여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문제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발생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시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다른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서비스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(e.g.,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다른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LLM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모델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)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로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쉽게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교체할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수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있도록</a:t>
            </a:r>
            <a:r>
              <a:rPr lang="en-US" sz="3199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 dirty="0">
                <a:solidFill>
                  <a:srgbClr val="222222"/>
                </a:solidFill>
                <a:ea typeface="Kim jung chul Gothic Bold"/>
              </a:rPr>
              <a:t>설계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1000" y="1028700"/>
            <a:ext cx="83439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사업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관리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계획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35200" y="4064000"/>
            <a:ext cx="46228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기술적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리스크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78100" y="8026400"/>
            <a:ext cx="15963900" cy="1701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-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특정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기능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개발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난이도로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인한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지연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애자일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방법론에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따라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핵심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기능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(MVP)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우선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개발하고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추가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기능</a:t>
            </a:r>
            <a:b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</a:b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은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우선순위를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조정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주간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단위로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진행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상황을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점검하고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일정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재조정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35200" y="7188200"/>
            <a:ext cx="46228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일정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지연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리스크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78100" y="10718800"/>
            <a:ext cx="19558000" cy="1701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- AI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가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생성하는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코드의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품질이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낮거나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버그가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많을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경우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RAG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시스템의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지식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베이스를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지속적으로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보강하고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프롬프트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엔지니어링을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 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통해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생성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코드의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품질을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개선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생성된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코드에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대한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자동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검증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(Validation)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로직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강화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35200" y="9880600"/>
            <a:ext cx="46228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품질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저하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리스크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692400"/>
            <a:ext cx="571500" cy="406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33500" y="2692400"/>
            <a:ext cx="128905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리스크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관리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방안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4635500"/>
            <a:ext cx="9232900" cy="295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0388600" y="4229100"/>
            <a:ext cx="8255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086100" y="6223000"/>
            <a:ext cx="8559800" cy="8509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lint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등의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프레임워크를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사용하여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SessionManager, AIAssistant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등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백엔드의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주요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모듈별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핵심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기능의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정합성을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검증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51300" y="5156200"/>
            <a:ext cx="45720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199" b="0" i="0" u="none" strike="noStrike">
                <a:solidFill>
                  <a:srgbClr val="222222"/>
                </a:solidFill>
                <a:ea typeface="Kim jung chul Gothic Bold"/>
              </a:rPr>
              <a:t>단위</a:t>
            </a:r>
            <a:r>
              <a:rPr lang="en-US" sz="3199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>
                <a:solidFill>
                  <a:srgbClr val="222222"/>
                </a:solidFill>
                <a:ea typeface="Kim jung chul Gothic Bold"/>
              </a:rPr>
              <a:t>테스트</a:t>
            </a:r>
            <a:r>
              <a:rPr lang="en-US" sz="3199" b="0" i="0" u="none" strike="noStrike">
                <a:solidFill>
                  <a:srgbClr val="222222"/>
                </a:solidFill>
                <a:latin typeface="Kim jung chul Gothic Bold"/>
              </a:rPr>
              <a:t> (Unit Test)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55900" y="46355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FF8C6C"/>
                </a:solidFill>
                <a:latin typeface="Kim jung chul Gothic Regular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8300" y="1028700"/>
            <a:ext cx="63627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지원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운영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계획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2200" y="4635500"/>
            <a:ext cx="9232900" cy="2959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92100" y="6223000"/>
            <a:ext cx="8559800" cy="8509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AI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게임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생성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요청부터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파일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저장까지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이어지는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전체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파이프라인이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
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정상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동작하는지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검증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57300" y="5156200"/>
            <a:ext cx="59817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199" b="0" i="0" u="none" strike="noStrike">
                <a:solidFill>
                  <a:srgbClr val="222222"/>
                </a:solidFill>
                <a:ea typeface="Kim jung chul Gothic Bold"/>
              </a:rPr>
              <a:t>통합</a:t>
            </a:r>
            <a:r>
              <a:rPr lang="en-US" sz="3199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>
                <a:solidFill>
                  <a:srgbClr val="222222"/>
                </a:solidFill>
                <a:ea typeface="Kim jung chul Gothic Bold"/>
              </a:rPr>
              <a:t>테스트</a:t>
            </a:r>
            <a:r>
              <a:rPr lang="en-US" sz="3199" b="0" i="0" u="none" strike="noStrike">
                <a:solidFill>
                  <a:srgbClr val="222222"/>
                </a:solidFill>
                <a:latin typeface="Kim jung chul Gothic Bold"/>
              </a:rPr>
              <a:t> (Integration Test)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61900" y="46355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FF8C6C"/>
                </a:solidFill>
                <a:latin typeface="Kim jung chul Gothic Regular"/>
              </a:rPr>
              <a:t>02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20256500" y="4229100"/>
            <a:ext cx="825500" cy="901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8255000"/>
            <a:ext cx="9232900" cy="2959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0388600" y="7848600"/>
            <a:ext cx="825500" cy="901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086100" y="9626600"/>
            <a:ext cx="9194800" cy="8509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실제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사용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시나리오에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따라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사용자가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게임을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생성하고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, </a:t>
            </a:r>
          </a:p>
          <a:p>
            <a:pPr lvl="0" algn="l">
              <a:lnSpc>
                <a:spcPct val="116199"/>
              </a:lnSpc>
            </a:pP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PC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와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모바일로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접속하여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플레이하는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과정을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테스트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51300" y="8775700"/>
            <a:ext cx="62103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E2E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테스트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(End-to-End Test)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55900" y="82550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FF8C6C"/>
                </a:solidFill>
                <a:latin typeface="Kim jung chul Gothic Regular"/>
              </a:rPr>
              <a:t>03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2200" y="8255000"/>
            <a:ext cx="9232900" cy="2959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2992100" y="9626600"/>
            <a:ext cx="8864600" cy="8509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잠재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사용자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(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동료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학생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등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)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에게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시스템을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사용하게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하고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, </a:t>
            </a:r>
          </a:p>
          <a:p>
            <a:pPr lvl="0" algn="l">
              <a:lnSpc>
                <a:spcPct val="116199"/>
              </a:lnSpc>
            </a:pP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피드백을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받아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UI/UX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를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개선</a:t>
            </a:r>
            <a:b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</a:br>
            <a:endParaRPr lang="ko-KR" sz="2400" b="1" i="0" u="none" strike="noStrike">
              <a:solidFill>
                <a:srgbClr val="222222"/>
              </a:solidFill>
              <a:ea typeface="Kim jung chul Gothic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957300" y="8775700"/>
            <a:ext cx="61595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사용성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테스트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(Usability Test)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61900" y="82550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FF8C6C"/>
                </a:solidFill>
                <a:latin typeface="Kim jung chul Gothic Regular"/>
              </a:rPr>
              <a:t>04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20256500" y="7848600"/>
            <a:ext cx="825500" cy="901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2692400"/>
            <a:ext cx="571500" cy="406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333500" y="2692400"/>
            <a:ext cx="128905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테스트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검증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방법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316" y="3293965"/>
            <a:ext cx="11635279" cy="7759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20" y="3289300"/>
            <a:ext cx="11635279" cy="7759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5240000" y="4125297"/>
            <a:ext cx="6858000" cy="8255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4617" b="0" i="0" u="none" strike="noStrike" dirty="0">
                <a:solidFill>
                  <a:srgbClr val="222222"/>
                </a:solidFill>
                <a:ea typeface="Kim jung chul Gothic Bold"/>
              </a:rPr>
              <a:t>유지보수</a:t>
            </a:r>
            <a:r>
              <a:rPr lang="en-US" sz="4617" b="0" i="0" u="none" strike="noStrike" dirty="0">
                <a:solidFill>
                  <a:srgbClr val="222222"/>
                </a:solidFill>
                <a:latin typeface="Kim jung chul Gothic Bold"/>
              </a:rPr>
              <a:t>/</a:t>
            </a:r>
            <a:r>
              <a:rPr lang="ko-KR" sz="4617" b="0" i="0" u="none" strike="noStrike" dirty="0">
                <a:solidFill>
                  <a:srgbClr val="222222"/>
                </a:solidFill>
                <a:ea typeface="Kim jung chul Gothic Bold"/>
              </a:rPr>
              <a:t>업데이트</a:t>
            </a:r>
            <a:r>
              <a:rPr lang="en-US" sz="4617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617" b="0" i="0" u="none" strike="noStrike" dirty="0">
                <a:solidFill>
                  <a:srgbClr val="222222"/>
                </a:solidFill>
                <a:ea typeface="Kim jung chul Gothic Bold"/>
              </a:rPr>
              <a:t>계획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76350" y="9165771"/>
            <a:ext cx="9461500" cy="1028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개발자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가이드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: /developer-guide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페이지를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통해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주요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기능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(SDK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사용법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디버깅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팁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등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)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에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대한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링크와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설명을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제공</a:t>
            </a:r>
            <a:b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</a:br>
            <a:endParaRPr lang="ko-KR" sz="2898" b="0" i="0" u="none" strike="noStrike" dirty="0">
              <a:solidFill>
                <a:srgbClr val="222222"/>
              </a:solidFill>
              <a:ea typeface="Kim jung chul Gothic Regula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94318" y="7169150"/>
            <a:ext cx="9461500" cy="15494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898" b="0" i="0" u="none" strike="noStrike" dirty="0" err="1">
                <a:solidFill>
                  <a:srgbClr val="222222"/>
                </a:solidFill>
                <a:ea typeface="Kim jung chul Gothic Regular"/>
              </a:rPr>
              <a:t>인터랙티브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가이드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: AI </a:t>
            </a:r>
            <a:r>
              <a:rPr lang="ko-KR" sz="2898" b="0" i="0" u="none" strike="noStrike" dirty="0" err="1">
                <a:solidFill>
                  <a:srgbClr val="222222"/>
                </a:solidFill>
                <a:ea typeface="Kim jung chul Gothic Regular"/>
              </a:rPr>
              <a:t>어시스턴트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자체가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대화형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매뉴얼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역할을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수행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.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사용자가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"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게임은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어떻게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만들어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?"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라고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질문하면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AI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가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단계별로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안내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4318" y="5782129"/>
            <a:ext cx="10591800" cy="1028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README.md :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프로젝트의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개요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기술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스택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설치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및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실행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방법을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상세히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기술한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README.md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파일을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제공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95550" y="4097435"/>
            <a:ext cx="7023100" cy="8255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4617" b="0" i="0" u="none" strike="noStrike" dirty="0">
                <a:solidFill>
                  <a:srgbClr val="222222"/>
                </a:solidFill>
                <a:ea typeface="Kim jung chul Gothic Bold"/>
              </a:rPr>
              <a:t>사용자</a:t>
            </a:r>
            <a:r>
              <a:rPr lang="en-US" sz="4617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617" b="0" i="0" u="none" strike="noStrike" dirty="0">
                <a:solidFill>
                  <a:srgbClr val="222222"/>
                </a:solidFill>
                <a:ea typeface="Kim jung chul Gothic Bold"/>
              </a:rPr>
              <a:t>교육</a:t>
            </a:r>
            <a:r>
              <a:rPr lang="en-US" sz="4617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617" b="0" i="0" u="none" strike="noStrike" dirty="0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4617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617" b="0" i="0" u="none" strike="noStrike" dirty="0">
                <a:solidFill>
                  <a:srgbClr val="222222"/>
                </a:solidFill>
                <a:ea typeface="Kim jung chul Gothic Bold"/>
              </a:rPr>
              <a:t>매뉴얼</a:t>
            </a:r>
            <a:r>
              <a:rPr lang="en-US" sz="4617" b="0" i="0" u="none" strike="noStrike" dirty="0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617" b="0" i="0" u="none" strike="noStrike" dirty="0">
                <a:solidFill>
                  <a:srgbClr val="222222"/>
                </a:solidFill>
                <a:ea typeface="Kim jung chul Gothic Bold"/>
              </a:rPr>
              <a:t>계획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3700" y="1066800"/>
            <a:ext cx="70231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399" b="0" i="0" u="none" strike="noStrike">
                <a:solidFill>
                  <a:srgbClr val="585755"/>
                </a:solidFill>
                <a:ea typeface="Kim jung chul Gothic Bold"/>
              </a:rPr>
              <a:t>지원</a:t>
            </a:r>
            <a:r>
              <a:rPr lang="en-US" sz="6399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399" b="0" i="0" u="none" strike="noStrike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6399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399" b="0" i="0" u="none" strike="noStrike">
                <a:solidFill>
                  <a:srgbClr val="585755"/>
                </a:solidFill>
                <a:ea typeface="Kim jung chul Gothic Bold"/>
              </a:rPr>
              <a:t>운영</a:t>
            </a:r>
            <a:r>
              <a:rPr lang="en-US" sz="6399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399" b="0" i="0" u="none" strike="noStrike">
                <a:solidFill>
                  <a:srgbClr val="585755"/>
                </a:solidFill>
                <a:ea typeface="Kim jung chul Gothic Bold"/>
              </a:rPr>
              <a:t>계획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82600" y="7734300"/>
            <a:ext cx="9931400" cy="1028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의존성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관리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: </a:t>
            </a:r>
            <a:r>
              <a:rPr lang="en-US" sz="2898" b="0" i="0" u="none" strike="noStrike" dirty="0" err="1">
                <a:solidFill>
                  <a:srgbClr val="222222"/>
                </a:solidFill>
                <a:latin typeface="Kim jung chul Gothic Regular"/>
              </a:rPr>
              <a:t>npm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audit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등을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통해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보안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취약점을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정기적으로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확인하고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라이브러리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버전을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업데이트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82600" y="5782129"/>
            <a:ext cx="10972800" cy="15494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지식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베이스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업데이트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: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프로젝트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코드에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변경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사항이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생기거나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새로운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개발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가이드가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추가될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경우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, scripts/update-embeddings.js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를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실행하여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AI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의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지식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베이스를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주기적으로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업데이트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82600" y="9165771"/>
            <a:ext cx="9931400" cy="10287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버그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수정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: GitHub Issues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를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통해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발견된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버그를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관리하고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, </a:t>
            </a:r>
          </a:p>
          <a:p>
            <a:pPr lvl="0" algn="l">
              <a:lnSpc>
                <a:spcPct val="116199"/>
              </a:lnSpc>
            </a:pP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수정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사항을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반영하여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버전</a:t>
            </a:r>
            <a:r>
              <a:rPr lang="en-US" sz="2898" b="0" i="0" u="none" strike="noStrike" dirty="0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898" b="0" i="0" u="none" strike="noStrike" dirty="0">
                <a:solidFill>
                  <a:srgbClr val="222222"/>
                </a:solidFill>
                <a:ea typeface="Kim jung chul Gothic Regular"/>
              </a:rPr>
              <a:t>업데이트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578100" y="4927600"/>
            <a:ext cx="15963900" cy="1143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AIAssistant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모듈은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특정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LLM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에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종속되지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않도록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설계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.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향후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더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뛰어난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성능의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모델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(e.g., GPT-5,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차세대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Claude)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이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출시될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경우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해당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모델의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API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를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호출하도록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쉽게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교체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가능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1000" y="1028700"/>
            <a:ext cx="83439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지원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운영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계획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35200" y="4064000"/>
            <a:ext cx="46228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LLM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교체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가능성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78100" y="7683500"/>
            <a:ext cx="15963900" cy="1143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현재는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생성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/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플레이에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집중하지만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향후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생성된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게임을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공유하고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평가하는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'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커뮤니티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기능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',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사용자가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직접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만든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게임으로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수익을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창출하는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'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마켓플레이스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기능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'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등으로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확장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가능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35200" y="6858000"/>
            <a:ext cx="46228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서비스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확장성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78100" y="10375900"/>
            <a:ext cx="19558000" cy="1143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현재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웹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기반에서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나아가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, Electron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이나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Tauri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를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이용해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데스크톱앱으로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패키징하거나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, 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React Native / Flutter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등을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통해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모바일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앱으로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확장할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있는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기반을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고려하여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설계</a:t>
            </a:r>
            <a:b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</a:br>
            <a:endParaRPr lang="ko-KR" sz="3200" b="0" i="0" u="none" strike="noStrike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235200" y="9550400"/>
            <a:ext cx="46228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플랫폼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확장성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692400"/>
            <a:ext cx="571500" cy="406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33500" y="2692400"/>
            <a:ext cx="128905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기술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이전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/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확장성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고려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사항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578100" y="4927600"/>
            <a:ext cx="15963900" cy="1143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코딩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능력이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없는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사람도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상상력만으로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게임을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만들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있게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되어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, 
IT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및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분야에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대한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대중의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관심과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참여를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유도할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있습니다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1000" y="1028700"/>
            <a:ext cx="83439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기대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효과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결론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35200" y="4064000"/>
            <a:ext cx="46228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창작의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장벽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파괴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78100" y="7683500"/>
            <a:ext cx="15963900" cy="1143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아이디어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구상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단계에서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만에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실제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동작하는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프로토타입을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제작하고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테스트함으로써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, 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'Fail Fast, Learn Faster'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문화를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게임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개발에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적용할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수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있습니다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35200" y="6858000"/>
            <a:ext cx="46228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신속한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프로토타이핑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78100" y="10375900"/>
            <a:ext cx="19558000" cy="1143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단순한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정보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제공을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넘어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,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특정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도메인에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전문화된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AI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가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실제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동작하는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결과물을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창출해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내는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성공적인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AI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융합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서비스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모델을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제시합니다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35200" y="9550400"/>
            <a:ext cx="57531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AI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융합의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새로운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모델</a:t>
            </a:r>
            <a:r>
              <a:rPr lang="en-US" sz="3771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Kim jung chul Gothic Bold"/>
              </a:rPr>
              <a:t>제시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692400"/>
            <a:ext cx="571500" cy="406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33500" y="2692400"/>
            <a:ext cx="128905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프로젝트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수행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후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기대되는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효과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4635500"/>
            <a:ext cx="9232900" cy="2959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0388600" y="4229100"/>
            <a:ext cx="8255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3086100" y="6223000"/>
            <a:ext cx="8559800" cy="4318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명령이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아닌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대화를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통해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점진적으로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결과물을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완성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51300" y="5156200"/>
            <a:ext cx="45720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199" b="0" i="0" u="none" strike="noStrike">
                <a:solidFill>
                  <a:srgbClr val="222222"/>
                </a:solidFill>
                <a:ea typeface="Kim jung chul Gothic Bold"/>
              </a:rPr>
              <a:t>대화형</a:t>
            </a:r>
            <a:r>
              <a:rPr lang="en-US" sz="3199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>
                <a:solidFill>
                  <a:srgbClr val="222222"/>
                </a:solidFill>
                <a:ea typeface="Kim jung chul Gothic Bold"/>
              </a:rPr>
              <a:t>인터페이스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55900" y="46355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FF8C6C"/>
                </a:solidFill>
                <a:latin typeface="Kim jung chul Gothic Regular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38300" y="1028700"/>
            <a:ext cx="63627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기대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효과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및</a:t>
            </a:r>
            <a:r>
              <a:rPr lang="en-US" sz="6400" b="0" i="0" u="none" strike="noStrike">
                <a:solidFill>
                  <a:srgbClr val="585755"/>
                </a:solidFill>
                <a:latin typeface="Kim jung chul Gothic Bold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Kim jung chul Gothic Bold"/>
              </a:rPr>
              <a:t>결론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2200" y="4635500"/>
            <a:ext cx="9232900" cy="29591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92100" y="6223000"/>
            <a:ext cx="8559800" cy="4318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범용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AI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가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아닌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프로젝트를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'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학습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'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한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전문가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57300" y="5156200"/>
            <a:ext cx="59817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199" b="0" i="0" u="none" strike="noStrike">
                <a:solidFill>
                  <a:srgbClr val="222222"/>
                </a:solidFill>
                <a:ea typeface="Kim jung chul Gothic Bold"/>
              </a:rPr>
              <a:t>도메인</a:t>
            </a:r>
            <a:r>
              <a:rPr lang="en-US" sz="3199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199" b="0" i="0" u="none" strike="noStrike">
                <a:solidFill>
                  <a:srgbClr val="222222"/>
                </a:solidFill>
                <a:ea typeface="Kim jung chul Gothic Bold"/>
              </a:rPr>
              <a:t>특화</a:t>
            </a:r>
            <a:r>
              <a:rPr lang="en-US" sz="3199" b="0" i="0" u="none" strike="noStrike">
                <a:solidFill>
                  <a:srgbClr val="222222"/>
                </a:solidFill>
                <a:latin typeface="Kim jung chul Gothic Bold"/>
              </a:rPr>
              <a:t> (RAG)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61900" y="46355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FF8C6C"/>
                </a:solidFill>
                <a:latin typeface="Kim jung chul Gothic Regular"/>
              </a:rPr>
              <a:t>02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20256500" y="4229100"/>
            <a:ext cx="825500" cy="901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8255000"/>
            <a:ext cx="9232900" cy="2959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10388600" y="7848600"/>
            <a:ext cx="825500" cy="901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3086100" y="9626600"/>
            <a:ext cx="9194800" cy="4318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아이디어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구상부터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즉시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플레이까지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전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과정이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자동화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51300" y="8775700"/>
            <a:ext cx="62103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End-to-End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자동화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55900" y="82550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FF8C6C"/>
                </a:solidFill>
                <a:latin typeface="Kim jung chul Gothic Regular"/>
              </a:rPr>
              <a:t>03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2200" y="8255000"/>
            <a:ext cx="9232900" cy="2959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2992100" y="9626600"/>
            <a:ext cx="8864600" cy="8509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다른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생성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AI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가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다루지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않는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,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모바일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센서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연동이라는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독창적인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영역에</a:t>
            </a:r>
            <a:r>
              <a:rPr lang="en-US" sz="2400" b="1" i="0" u="none" strike="noStrike">
                <a:solidFill>
                  <a:srgbClr val="222222"/>
                </a:solidFill>
                <a:latin typeface="Kim jung chul Gothic Regular"/>
              </a:rPr>
              <a:t> </a:t>
            </a:r>
            <a: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  <a:t>집중</a:t>
            </a:r>
            <a:br>
              <a:rPr lang="ko-KR" sz="2400" b="1" i="0" u="none" strike="noStrike">
                <a:solidFill>
                  <a:srgbClr val="222222"/>
                </a:solidFill>
                <a:ea typeface="Kim jung chul Gothic Regular"/>
              </a:rPr>
            </a:br>
            <a:endParaRPr lang="ko-KR" sz="2400" b="1" i="0" u="none" strike="noStrike">
              <a:solidFill>
                <a:srgbClr val="222222"/>
              </a:solidFill>
              <a:ea typeface="Kim jung chul Gothic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957300" y="8775700"/>
            <a:ext cx="61595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센서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연동</a:t>
            </a:r>
            <a:r>
              <a:rPr lang="en-US" sz="3200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3200" b="0" i="0" u="none" strike="noStrike">
                <a:solidFill>
                  <a:srgbClr val="222222"/>
                </a:solidFill>
                <a:ea typeface="Kim jung chul Gothic Bold"/>
              </a:rPr>
              <a:t>특화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61900" y="82550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8000" b="0" i="0" u="none" strike="noStrike">
                <a:solidFill>
                  <a:srgbClr val="FF8C6C"/>
                </a:solidFill>
                <a:latin typeface="Kim jung chul Gothic Regular"/>
              </a:rPr>
              <a:t>04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20256500" y="7848600"/>
            <a:ext cx="825500" cy="901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2692400"/>
            <a:ext cx="571500" cy="406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333500" y="2692400"/>
            <a:ext cx="128905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차별화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요소</a:t>
            </a:r>
            <a:r>
              <a:rPr lang="en-US" sz="4815" b="0" i="0" u="none" strike="noStrike">
                <a:solidFill>
                  <a:srgbClr val="222222"/>
                </a:solidFill>
                <a:latin typeface="Kim jung chul Gothic Bold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Kim jung chul Gothic Bold"/>
              </a:rPr>
              <a:t>요약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51000" y="1028700"/>
            <a:ext cx="83439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Arial"/>
              </a:rPr>
              <a:t>기대</a:t>
            </a:r>
            <a:r>
              <a:rPr lang="en-US" sz="6400" b="0" i="0" u="none" strike="noStrike">
                <a:solidFill>
                  <a:srgbClr val="585755"/>
                </a:solidFill>
                <a:latin typeface="Arial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Arial"/>
              </a:rPr>
              <a:t>효과</a:t>
            </a:r>
            <a:r>
              <a:rPr lang="en-US" sz="6400" b="0" i="0" u="none" strike="noStrike">
                <a:solidFill>
                  <a:srgbClr val="585755"/>
                </a:solidFill>
                <a:latin typeface="Arial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Arial"/>
              </a:rPr>
              <a:t>및</a:t>
            </a:r>
            <a:r>
              <a:rPr lang="en-US" sz="6400" b="0" i="0" u="none" strike="noStrike">
                <a:solidFill>
                  <a:srgbClr val="585755"/>
                </a:solidFill>
                <a:latin typeface="Arial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Arial"/>
              </a:rPr>
              <a:t>결론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692400"/>
            <a:ext cx="571500" cy="406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33500" y="2692400"/>
            <a:ext cx="128905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815" b="0" i="0" u="none" strike="noStrike" dirty="0">
                <a:solidFill>
                  <a:srgbClr val="222222"/>
                </a:solidFill>
                <a:ea typeface="Arial"/>
              </a:rPr>
              <a:t>결론</a:t>
            </a:r>
            <a:r>
              <a:rPr lang="en-US" sz="4815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4815" b="0" i="0" u="none" strike="noStrike" dirty="0">
                <a:solidFill>
                  <a:srgbClr val="222222"/>
                </a:solidFill>
                <a:ea typeface="Arial"/>
              </a:rPr>
              <a:t>및</a:t>
            </a:r>
            <a:r>
              <a:rPr lang="en-US" sz="4815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4815" b="0" i="0" u="none" strike="noStrike" dirty="0">
                <a:solidFill>
                  <a:srgbClr val="222222"/>
                </a:solidFill>
                <a:ea typeface="Arial"/>
              </a:rPr>
              <a:t>향후</a:t>
            </a:r>
            <a:r>
              <a:rPr lang="en-US" sz="4815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4815" b="0" i="0" u="none" strike="noStrike" dirty="0">
                <a:solidFill>
                  <a:srgbClr val="222222"/>
                </a:solidFill>
                <a:ea typeface="Arial"/>
              </a:rPr>
              <a:t>발전</a:t>
            </a:r>
            <a:r>
              <a:rPr lang="en-US" sz="4815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4815" b="0" i="0" u="none" strike="noStrike" dirty="0">
                <a:solidFill>
                  <a:srgbClr val="222222"/>
                </a:solidFill>
                <a:ea typeface="Arial"/>
              </a:rPr>
              <a:t>방향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33500" y="4928884"/>
            <a:ext cx="22021800" cy="2386316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본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en-US" altLang="ko-KR" sz="3200" dirty="0">
                <a:solidFill>
                  <a:srgbClr val="222222"/>
                </a:solidFill>
                <a:latin typeface="Arial"/>
              </a:rPr>
              <a:t>‘</a:t>
            </a:r>
            <a:r>
              <a:rPr lang="ko-KR" altLang="en-US" sz="3200" b="0" i="0" u="none" strike="noStrike" dirty="0">
                <a:solidFill>
                  <a:srgbClr val="222222"/>
                </a:solidFill>
                <a:latin typeface="Arial"/>
              </a:rPr>
              <a:t>센서 게임 허브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'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프로젝트는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 err="1">
                <a:solidFill>
                  <a:srgbClr val="222222"/>
                </a:solidFill>
                <a:ea typeface="Arial"/>
              </a:rPr>
              <a:t>생성형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AI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와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실시간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웹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기술을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결합하여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, 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게임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개발의</a:t>
            </a:r>
            <a:r>
              <a:rPr lang="en-US" altLang="ko-KR" sz="3200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패러다임을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 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바꾸는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혁신적인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시도입니다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. RAG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아키텍처를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통해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AI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의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창의성과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프로젝트의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일관성을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모두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확보하고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, 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대화형인터페이스를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통해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사용자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경험을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극대화함으로써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 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기술적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완성도와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사용성을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 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모두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만족시키는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것을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목표로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합니다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251776"/>
            <a:ext cx="4572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800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3298840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593132" y="5700097"/>
            <a:ext cx="17676068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 dirty="0" err="1">
                <a:solidFill>
                  <a:srgbClr val="222222"/>
                </a:solidFill>
                <a:ea typeface="Arial"/>
              </a:rPr>
              <a:t>텍스트뿐만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아니라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,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사용자가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그린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스케치나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이미지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, 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음성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명령을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이해하여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게임을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생성하는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기능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1000" y="1028700"/>
            <a:ext cx="83439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Arial"/>
              </a:rPr>
              <a:t>기대</a:t>
            </a:r>
            <a:r>
              <a:rPr lang="en-US" sz="6400" b="0" i="0" u="none" strike="noStrike">
                <a:solidFill>
                  <a:srgbClr val="585755"/>
                </a:solidFill>
                <a:latin typeface="Arial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Arial"/>
              </a:rPr>
              <a:t>효과</a:t>
            </a:r>
            <a:r>
              <a:rPr lang="en-US" sz="6400" b="0" i="0" u="none" strike="noStrike">
                <a:solidFill>
                  <a:srgbClr val="585755"/>
                </a:solidFill>
                <a:latin typeface="Arial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Arial"/>
              </a:rPr>
              <a:t>및</a:t>
            </a:r>
            <a:r>
              <a:rPr lang="en-US" sz="6400" b="0" i="0" u="none" strike="noStrike">
                <a:solidFill>
                  <a:srgbClr val="585755"/>
                </a:solidFill>
                <a:latin typeface="Arial"/>
              </a:rPr>
              <a:t> </a:t>
            </a:r>
            <a:r>
              <a:rPr lang="ko-KR" sz="6400" b="0" i="0" u="none" strike="noStrike">
                <a:solidFill>
                  <a:srgbClr val="585755"/>
                </a:solidFill>
                <a:ea typeface="Arial"/>
              </a:rPr>
              <a:t>결론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03365" y="5029200"/>
            <a:ext cx="78359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771" b="0" i="0" u="none" strike="noStrike">
                <a:solidFill>
                  <a:srgbClr val="222222"/>
                </a:solidFill>
                <a:latin typeface="Arial"/>
              </a:rPr>
              <a:t>- </a:t>
            </a:r>
            <a:r>
              <a:rPr lang="ko-KR" sz="3771" b="0" i="0" u="none" strike="noStrike">
                <a:solidFill>
                  <a:srgbClr val="222222"/>
                </a:solidFill>
                <a:ea typeface="Arial"/>
              </a:rPr>
              <a:t>멀티모달</a:t>
            </a:r>
            <a:r>
              <a:rPr lang="en-US" sz="3771" b="0" i="0" u="none" strike="noStrike">
                <a:solidFill>
                  <a:srgbClr val="222222"/>
                </a:solidFill>
                <a:latin typeface="Arial"/>
              </a:rPr>
              <a:t>(Multi-modal) </a:t>
            </a:r>
            <a:r>
              <a:rPr lang="ko-KR" sz="3771" b="0" i="0" u="none" strike="noStrike">
                <a:solidFill>
                  <a:srgbClr val="222222"/>
                </a:solidFill>
                <a:ea typeface="Arial"/>
              </a:rPr>
              <a:t>입력</a:t>
            </a:r>
            <a:r>
              <a:rPr lang="en-US" sz="3771" b="0" i="0" u="none" strike="noStrike">
                <a:solidFill>
                  <a:srgbClr val="222222"/>
                </a:solidFill>
                <a:latin typeface="Arial"/>
              </a:rPr>
              <a:t> </a:t>
            </a:r>
            <a:r>
              <a:rPr lang="ko-KR" sz="3771" b="0" i="0" u="none" strike="noStrike">
                <a:solidFill>
                  <a:srgbClr val="222222"/>
                </a:solidFill>
                <a:ea typeface="Arial"/>
              </a:rPr>
              <a:t>지원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93132" y="7188200"/>
            <a:ext cx="159639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여러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사용자가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함께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AI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와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대화하며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하나의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게임을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같이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만들어가는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협업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모드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개발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3365" y="6515100"/>
            <a:ext cx="46228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771" b="0" i="0" u="none" strike="noStrike" dirty="0">
                <a:solidFill>
                  <a:srgbClr val="222222"/>
                </a:solidFill>
                <a:latin typeface="Arial"/>
              </a:rPr>
              <a:t>- AI </a:t>
            </a:r>
            <a:r>
              <a:rPr lang="ko-KR" sz="3771" b="0" i="0" u="none" strike="noStrike" dirty="0">
                <a:solidFill>
                  <a:srgbClr val="222222"/>
                </a:solidFill>
                <a:ea typeface="Arial"/>
              </a:rPr>
              <a:t>기반</a:t>
            </a:r>
            <a:r>
              <a:rPr lang="en-US" sz="3771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771" b="0" i="0" u="none" strike="noStrike" dirty="0">
                <a:solidFill>
                  <a:srgbClr val="222222"/>
                </a:solidFill>
                <a:ea typeface="Arial"/>
              </a:rPr>
              <a:t>협업</a:t>
            </a:r>
            <a:r>
              <a:rPr lang="en-US" sz="3771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771" b="0" i="0" u="none" strike="noStrike" dirty="0">
                <a:solidFill>
                  <a:srgbClr val="222222"/>
                </a:solidFill>
                <a:ea typeface="Arial"/>
              </a:rPr>
              <a:t>기능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93132" y="8771423"/>
            <a:ext cx="195580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사용자의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플레이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데이터를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AI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가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학습하여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,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게임의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난이도를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자동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조절하거나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새로운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스테이지를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스스로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생성하는</a:t>
            </a:r>
            <a:r>
              <a:rPr lang="en-US" sz="3200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200" b="0" i="0" u="none" strike="noStrike" dirty="0">
                <a:solidFill>
                  <a:srgbClr val="222222"/>
                </a:solidFill>
                <a:ea typeface="Arial"/>
              </a:rPr>
              <a:t>기능</a:t>
            </a:r>
            <a:br>
              <a:rPr lang="ko-KR" sz="3200" b="0" i="0" u="none" strike="noStrike" dirty="0">
                <a:solidFill>
                  <a:srgbClr val="222222"/>
                </a:solidFill>
                <a:ea typeface="Arial"/>
              </a:rPr>
            </a:br>
            <a:endParaRPr lang="ko-KR" sz="3200" b="0" i="0" u="none" strike="noStrike" dirty="0">
              <a:solidFill>
                <a:srgbClr val="222222"/>
              </a:solidFill>
              <a:ea typeface="Arial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303365" y="8096250"/>
            <a:ext cx="57531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3771" b="0" i="0" u="none" strike="noStrike" dirty="0">
                <a:solidFill>
                  <a:srgbClr val="222222"/>
                </a:solidFill>
                <a:latin typeface="Arial"/>
              </a:rPr>
              <a:t>- </a:t>
            </a:r>
            <a:r>
              <a:rPr lang="ko-KR" sz="3771" b="0" i="0" u="none" strike="noStrike" dirty="0">
                <a:solidFill>
                  <a:srgbClr val="222222"/>
                </a:solidFill>
                <a:ea typeface="Arial"/>
              </a:rPr>
              <a:t>생성된</a:t>
            </a:r>
            <a:r>
              <a:rPr lang="en-US" sz="3771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771" b="0" i="0" u="none" strike="noStrike" dirty="0">
                <a:solidFill>
                  <a:srgbClr val="222222"/>
                </a:solidFill>
                <a:ea typeface="Arial"/>
              </a:rPr>
              <a:t>게임의</a:t>
            </a:r>
            <a:r>
              <a:rPr lang="en-US" sz="3771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771" b="0" i="0" u="none" strike="noStrike" dirty="0">
                <a:solidFill>
                  <a:srgbClr val="222222"/>
                </a:solidFill>
                <a:ea typeface="Arial"/>
              </a:rPr>
              <a:t>자가</a:t>
            </a:r>
            <a:r>
              <a:rPr lang="en-US" sz="3771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771" b="0" i="0" u="none" strike="noStrike" dirty="0">
                <a:solidFill>
                  <a:srgbClr val="222222"/>
                </a:solidFill>
                <a:ea typeface="Arial"/>
              </a:rPr>
              <a:t>발전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692400"/>
            <a:ext cx="571500" cy="406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33500" y="2692400"/>
            <a:ext cx="128905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815" b="0" i="0" u="none" strike="noStrike">
                <a:solidFill>
                  <a:srgbClr val="222222"/>
                </a:solidFill>
                <a:ea typeface="Arial"/>
              </a:rPr>
              <a:t>결론</a:t>
            </a:r>
            <a:r>
              <a:rPr lang="en-US" sz="4815" b="0" i="0" u="none" strike="noStrike">
                <a:solidFill>
                  <a:srgbClr val="222222"/>
                </a:solidFill>
                <a:latin typeface="Arial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Arial"/>
              </a:rPr>
              <a:t>및</a:t>
            </a:r>
            <a:r>
              <a:rPr lang="en-US" sz="4815" b="0" i="0" u="none" strike="noStrike">
                <a:solidFill>
                  <a:srgbClr val="222222"/>
                </a:solidFill>
                <a:latin typeface="Arial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Arial"/>
              </a:rPr>
              <a:t>향후</a:t>
            </a:r>
            <a:r>
              <a:rPr lang="en-US" sz="4815" b="0" i="0" u="none" strike="noStrike">
                <a:solidFill>
                  <a:srgbClr val="222222"/>
                </a:solidFill>
                <a:latin typeface="Arial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Arial"/>
              </a:rPr>
              <a:t>발전</a:t>
            </a:r>
            <a:r>
              <a:rPr lang="en-US" sz="4815" b="0" i="0" u="none" strike="noStrike">
                <a:solidFill>
                  <a:srgbClr val="222222"/>
                </a:solidFill>
                <a:latin typeface="Arial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Arial"/>
              </a:rPr>
              <a:t>방향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8165" y="4254500"/>
            <a:ext cx="46228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771" b="0" i="0" u="none" strike="noStrike" dirty="0">
                <a:solidFill>
                  <a:srgbClr val="222222"/>
                </a:solidFill>
                <a:ea typeface="Arial"/>
              </a:rPr>
              <a:t>향후</a:t>
            </a:r>
            <a:r>
              <a:rPr lang="en-US" sz="3771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771" b="0" i="0" u="none" strike="noStrike" dirty="0">
                <a:solidFill>
                  <a:srgbClr val="222222"/>
                </a:solidFill>
                <a:ea typeface="Arial"/>
              </a:rPr>
              <a:t>발전</a:t>
            </a:r>
            <a:r>
              <a:rPr lang="en-US" sz="3771" b="0" i="0" u="none" strike="noStrike" dirty="0">
                <a:solidFill>
                  <a:srgbClr val="222222"/>
                </a:solidFill>
                <a:latin typeface="Arial"/>
              </a:rPr>
              <a:t> </a:t>
            </a:r>
            <a:r>
              <a:rPr lang="ko-KR" sz="3771" b="0" i="0" u="none" strike="noStrike" dirty="0">
                <a:solidFill>
                  <a:srgbClr val="222222"/>
                </a:solidFill>
                <a:ea typeface="Arial"/>
              </a:rPr>
              <a:t>방향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5400000">
            <a:off x="647700" y="1562100"/>
            <a:ext cx="1181100" cy="76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578100" y="4927600"/>
            <a:ext cx="159639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200" b="0" i="0" u="none" strike="noStrike">
                <a:solidFill>
                  <a:srgbClr val="222222"/>
                </a:solidFill>
                <a:latin typeface="Arial"/>
              </a:rPr>
              <a:t>https://js.langchain.com/docs/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1000" y="1028700"/>
            <a:ext cx="8343900" cy="1143000"/>
          </a:xfrm>
          <a:prstGeom prst="rect">
            <a:avLst/>
          </a:prstGeom>
        </p:spPr>
        <p:txBody>
          <a:bodyPr lIns="0" tIns="81280" rIns="0" bIns="81280" rtlCol="0" anchor="ctr"/>
          <a:lstStyle/>
          <a:p>
            <a:pPr lvl="0" algn="l">
              <a:lnSpc>
                <a:spcPct val="99600"/>
              </a:lnSpc>
            </a:pPr>
            <a:r>
              <a:rPr lang="ko-KR" sz="6400" b="0" i="0" u="none" strike="noStrike">
                <a:solidFill>
                  <a:srgbClr val="585755"/>
                </a:solidFill>
                <a:ea typeface="Arial"/>
              </a:rPr>
              <a:t>부록</a:t>
            </a:r>
            <a:r>
              <a:rPr lang="en-US" sz="6400" b="0" i="0" u="none" strike="noStrike">
                <a:solidFill>
                  <a:srgbClr val="585755"/>
                </a:solidFill>
                <a:latin typeface="Arial"/>
              </a:rPr>
              <a:t> (Appendix)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35200" y="4064000"/>
            <a:ext cx="82931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771" b="0" i="0" u="none" strike="noStrike">
                <a:solidFill>
                  <a:srgbClr val="222222"/>
                </a:solidFill>
                <a:latin typeface="Arial"/>
              </a:rPr>
              <a:t> LangChain Official Documentation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78100" y="6692900"/>
            <a:ext cx="159639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200" b="0" i="0" u="none" strike="noStrike">
                <a:solidFill>
                  <a:srgbClr val="222222"/>
                </a:solidFill>
                <a:latin typeface="Arial"/>
              </a:rPr>
              <a:t>https://platform.openai.com/docs/api-reference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35200" y="5854700"/>
            <a:ext cx="72517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771" b="0" i="0" u="none" strike="noStrike">
                <a:solidFill>
                  <a:srgbClr val="222222"/>
                </a:solidFill>
                <a:latin typeface="Arial"/>
              </a:rPr>
              <a:t>OpenAI API Reference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78100" y="8483600"/>
            <a:ext cx="195580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200" b="0" i="0" u="none" strike="noStrike">
                <a:solidFill>
                  <a:srgbClr val="222222"/>
                </a:solidFill>
                <a:latin typeface="Arial"/>
              </a:rPr>
              <a:t>https://docs.anthropic.com/claude/reference/getting-started-with-the-api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35200" y="7645400"/>
            <a:ext cx="86360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771" b="0" i="0" u="none" strike="noStrike">
                <a:solidFill>
                  <a:srgbClr val="222222"/>
                </a:solidFill>
                <a:latin typeface="Arial"/>
              </a:rPr>
              <a:t>Anthropic API Documentation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2692400"/>
            <a:ext cx="571500" cy="406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33500" y="2692400"/>
            <a:ext cx="12890500" cy="850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815" b="0" i="0" u="none" strike="noStrike">
                <a:solidFill>
                  <a:srgbClr val="222222"/>
                </a:solidFill>
                <a:ea typeface="Arial"/>
              </a:rPr>
              <a:t>참고</a:t>
            </a:r>
            <a:r>
              <a:rPr lang="en-US" sz="4815" b="0" i="0" u="none" strike="noStrike">
                <a:solidFill>
                  <a:srgbClr val="222222"/>
                </a:solidFill>
                <a:latin typeface="Arial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Arial"/>
              </a:rPr>
              <a:t>문헌</a:t>
            </a:r>
            <a:r>
              <a:rPr lang="en-US" sz="4815" b="0" i="0" u="none" strike="noStrike">
                <a:solidFill>
                  <a:srgbClr val="222222"/>
                </a:solidFill>
                <a:latin typeface="Arial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Arial"/>
              </a:rPr>
              <a:t>및</a:t>
            </a:r>
            <a:r>
              <a:rPr lang="en-US" sz="4815" b="0" i="0" u="none" strike="noStrike">
                <a:solidFill>
                  <a:srgbClr val="222222"/>
                </a:solidFill>
                <a:latin typeface="Arial"/>
              </a:rPr>
              <a:t> </a:t>
            </a:r>
            <a:r>
              <a:rPr lang="ko-KR" sz="4815" b="0" i="0" u="none" strike="noStrike">
                <a:solidFill>
                  <a:srgbClr val="222222"/>
                </a:solidFill>
                <a:ea typeface="Arial"/>
              </a:rPr>
              <a:t>자료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78100" y="10274300"/>
            <a:ext cx="159639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200" b="0" i="0" u="none" strike="noStrike">
                <a:solidFill>
                  <a:srgbClr val="222222"/>
                </a:solidFill>
                <a:latin typeface="Arial"/>
              </a:rPr>
              <a:t> https://supabase.com/docs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5200" y="9448800"/>
            <a:ext cx="72517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771" b="0" i="0" u="none" strike="noStrike">
                <a:solidFill>
                  <a:srgbClr val="222222"/>
                </a:solidFill>
                <a:latin typeface="Arial"/>
              </a:rPr>
              <a:t>Supabase Documentation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78100" y="12065000"/>
            <a:ext cx="19558000" cy="571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200" b="0" i="0" u="none" strike="noStrike">
                <a:solidFill>
                  <a:srgbClr val="222222"/>
                </a:solidFill>
                <a:latin typeface="Arial"/>
              </a:rPr>
              <a:t> https://socket.io/docs/v4/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35200" y="11239500"/>
            <a:ext cx="8636000" cy="673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3771" b="0" i="0" u="none" strike="noStrike">
                <a:solidFill>
                  <a:srgbClr val="222222"/>
                </a:solidFill>
                <a:latin typeface="Arial"/>
              </a:rPr>
              <a:t>Socket.IO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2406</Words>
  <Application>Microsoft Macintosh PowerPoint</Application>
  <PresentationFormat>사용자 지정</PresentationFormat>
  <Paragraphs>348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3" baseType="lpstr">
      <vt:lpstr>Kim jung chul Gothic Bold</vt:lpstr>
      <vt:lpstr>Pretendard Regular</vt:lpstr>
      <vt:lpstr>Calibri</vt:lpstr>
      <vt:lpstr>Kim jung chul Gothic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조민혁</cp:lastModifiedBy>
  <cp:revision>11</cp:revision>
  <dcterms:created xsi:type="dcterms:W3CDTF">2006-08-16T00:00:00Z</dcterms:created>
  <dcterms:modified xsi:type="dcterms:W3CDTF">2025-09-08T15:06:15Z</dcterms:modified>
</cp:coreProperties>
</file>